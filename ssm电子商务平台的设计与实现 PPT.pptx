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0" d="100"/>
          <a:sy n="90" d="100"/>
        </p:scale>
        <p:origin x="102" y="7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0223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4F7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jp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89088" y="1908021"/>
            <a:ext cx="6160839" cy="841248"/>
          </a:xfrm>
          <a:prstGeom prst="rect">
            <a:avLst/>
          </a:prstGeom>
          <a:noFill/>
          <a:ln/>
        </p:spPr>
        <p:txBody>
          <a:bodyPr wrap="square" lIns="95250" tIns="95250" rIns="95250" bIns="95250" rtlCol="0" anchor="t"/>
          <a:lstStyle/>
          <a:p>
            <a:pPr marL="0" indent="0">
              <a:lnSpc>
                <a:spcPct val="112500"/>
              </a:lnSpc>
              <a:spcBef>
                <a:spcPts val="375"/>
              </a:spcBef>
              <a:buNone/>
            </a:pPr>
            <a:r>
              <a:rPr lang="en-US" sz="3456" b="1" kern="0" spc="144" dirty="0" err="1">
                <a:solidFill>
                  <a:srgbClr val="3D4D83"/>
                </a:solidFill>
                <a:latin typeface="Microsoft Yahei" pitchFamily="34" charset="0"/>
                <a:ea typeface="Microsoft Yahei" pitchFamily="34" charset="-122"/>
                <a:cs typeface="Microsoft Yahei" pitchFamily="34" charset="-120"/>
              </a:rPr>
              <a:t>电子商务平台</a:t>
            </a:r>
            <a:r>
              <a:rPr lang="zh-CN" altLang="en-US" sz="3456" b="1" kern="0" spc="144" dirty="0">
                <a:solidFill>
                  <a:srgbClr val="3D4D83"/>
                </a:solidFill>
                <a:latin typeface="Microsoft Yahei" pitchFamily="34" charset="0"/>
                <a:ea typeface="Microsoft Yahei" pitchFamily="34" charset="-122"/>
                <a:cs typeface="Microsoft Yahei" pitchFamily="34" charset="-120"/>
              </a:rPr>
              <a:t>的</a:t>
            </a:r>
            <a:r>
              <a:rPr lang="en-US" sz="3456" b="1" kern="0" spc="144" dirty="0" err="1">
                <a:solidFill>
                  <a:srgbClr val="3D4D83"/>
                </a:solidFill>
                <a:latin typeface="Microsoft Yahei" pitchFamily="34" charset="0"/>
                <a:ea typeface="Microsoft Yahei" pitchFamily="34" charset="-122"/>
                <a:cs typeface="Microsoft Yahei" pitchFamily="34" charset="-120"/>
              </a:rPr>
              <a:t>设计与实现</a:t>
            </a:r>
            <a:endParaRPr lang="en-US" sz="1440" dirty="0"/>
          </a:p>
        </p:txBody>
      </p:sp>
      <p:sp>
        <p:nvSpPr>
          <p:cNvPr id="4" name="Text 2"/>
          <p:cNvSpPr/>
          <p:nvPr/>
        </p:nvSpPr>
        <p:spPr>
          <a:xfrm>
            <a:off x="989088" y="3396659"/>
            <a:ext cx="2051588" cy="457200"/>
          </a:xfrm>
          <a:prstGeom prst="rect">
            <a:avLst/>
          </a:prstGeom>
          <a:noFill/>
          <a:ln/>
        </p:spPr>
        <p:txBody>
          <a:bodyPr wrap="square" lIns="95250" tIns="95250" rIns="95250" bIns="95250" rtlCol="0" anchor="t"/>
          <a:lstStyle/>
          <a:p>
            <a:pPr marL="0" indent="0">
              <a:lnSpc>
                <a:spcPct val="112500"/>
              </a:lnSpc>
              <a:spcBef>
                <a:spcPts val="375"/>
              </a:spcBef>
              <a:buNone/>
            </a:pPr>
            <a:r>
              <a:rPr lang="en-US" sz="1296" dirty="0">
                <a:solidFill>
                  <a:srgbClr val="000000"/>
                </a:solidFill>
                <a:latin typeface="微软雅黑" pitchFamily="34" charset="0"/>
                <a:ea typeface="微软雅黑" pitchFamily="34" charset="-122"/>
                <a:cs typeface="微软雅黑" pitchFamily="34" charset="-120"/>
              </a:rPr>
              <a:t>汇报人</a:t>
            </a:r>
            <a:r>
              <a:rPr lang="en-US" sz="1296" dirty="0">
                <a:solidFill>
                  <a:srgbClr val="000000"/>
                </a:solidFill>
                <a:latin typeface="Arial" pitchFamily="34" charset="0"/>
                <a:ea typeface="Arial" pitchFamily="34" charset="-122"/>
                <a:cs typeface="Arial" pitchFamily="34" charset="-120"/>
              </a:rPr>
              <a:t>:</a:t>
            </a:r>
            <a:r>
              <a:rPr lang="en-US" sz="1296" dirty="0">
                <a:solidFill>
                  <a:srgbClr val="000000"/>
                </a:solidFill>
                <a:latin typeface="微软雅黑" pitchFamily="34" charset="0"/>
                <a:ea typeface="微软雅黑" pitchFamily="34" charset="-122"/>
                <a:cs typeface="微软雅黑" pitchFamily="34" charset="-120"/>
              </a:rPr>
              <a:t> XXX</a:t>
            </a:r>
            <a:endParaRPr lang="en-US" sz="1440" dirty="0"/>
          </a:p>
        </p:txBody>
      </p:sp>
      <p:sp>
        <p:nvSpPr>
          <p:cNvPr id="5" name="Shape 3"/>
          <p:cNvSpPr/>
          <p:nvPr/>
        </p:nvSpPr>
        <p:spPr>
          <a:xfrm>
            <a:off x="1125047" y="1246062"/>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E6C585"/>
          </a:solidFill>
          <a:ln/>
        </p:spPr>
      </p:sp>
      <p:sp>
        <p:nvSpPr>
          <p:cNvPr id="6" name="Shape 4"/>
          <p:cNvSpPr/>
          <p:nvPr/>
        </p:nvSpPr>
        <p:spPr>
          <a:xfrm>
            <a:off x="1478524" y="1246062"/>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B5D9AB"/>
          </a:solidFill>
          <a:ln/>
        </p:spPr>
      </p:sp>
      <p:sp>
        <p:nvSpPr>
          <p:cNvPr id="7" name="Shape 5"/>
          <p:cNvSpPr/>
          <p:nvPr/>
        </p:nvSpPr>
        <p:spPr>
          <a:xfrm>
            <a:off x="1832002" y="1246062"/>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AA1A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2786792" y="576488"/>
            <a:ext cx="4313208" cy="1088136"/>
          </a:xfrm>
          <a:prstGeom prst="rect">
            <a:avLst/>
          </a:prstGeom>
          <a:noFill/>
          <a:ln/>
        </p:spPr>
        <p:txBody>
          <a:bodyPr wrap="square" lIns="95250" tIns="95250" rIns="95250" bIns="95250" rtlCol="0" anchor="t"/>
          <a:lstStyle/>
          <a:p>
            <a:pPr marL="0" indent="0">
              <a:lnSpc>
                <a:spcPct val="112500"/>
              </a:lnSpc>
              <a:spcBef>
                <a:spcPts val="375"/>
              </a:spcBef>
              <a:buNone/>
            </a:pPr>
            <a:r>
              <a:rPr lang="en-US" sz="4752" b="1" dirty="0">
                <a:solidFill>
                  <a:srgbClr val="3D4D83">
                    <a:alpha val="10000"/>
                  </a:srgbClr>
                </a:solidFill>
                <a:latin typeface="Microsoft Yahei" pitchFamily="34" charset="0"/>
                <a:ea typeface="Microsoft Yahei" pitchFamily="34" charset="-122"/>
                <a:cs typeface="Microsoft Yahei" pitchFamily="34" charset="-120"/>
              </a:rPr>
              <a:t>CONTENT</a:t>
            </a:r>
            <a:endParaRPr lang="en-US" sz="1440" dirty="0"/>
          </a:p>
        </p:txBody>
      </p:sp>
      <p:sp>
        <p:nvSpPr>
          <p:cNvPr id="3" name="Text 1"/>
          <p:cNvSpPr/>
          <p:nvPr/>
        </p:nvSpPr>
        <p:spPr>
          <a:xfrm>
            <a:off x="3494077" y="837104"/>
            <a:ext cx="1675953" cy="731520"/>
          </a:xfrm>
          <a:prstGeom prst="rect">
            <a:avLst/>
          </a:prstGeom>
          <a:noFill/>
          <a:ln/>
        </p:spPr>
        <p:txBody>
          <a:bodyPr wrap="square" lIns="95250" tIns="95250" rIns="95250" bIns="95250" rtlCol="0" anchor="t"/>
          <a:lstStyle/>
          <a:p>
            <a:pPr marL="0" indent="0" algn="ctr">
              <a:lnSpc>
                <a:spcPct val="112500"/>
              </a:lnSpc>
              <a:spcBef>
                <a:spcPts val="375"/>
              </a:spcBef>
              <a:buNone/>
            </a:pPr>
            <a:r>
              <a:rPr lang="en-US" sz="2880" b="1" dirty="0">
                <a:solidFill>
                  <a:srgbClr val="3D4D83"/>
                </a:solidFill>
                <a:latin typeface="Microsoft Yahei" pitchFamily="34" charset="0"/>
                <a:ea typeface="Microsoft Yahei" pitchFamily="34" charset="-122"/>
                <a:cs typeface="Microsoft Yahei" pitchFamily="34" charset="-120"/>
              </a:rPr>
              <a:t>目录</a:t>
            </a:r>
            <a:endParaRPr lang="en-US" sz="1440" dirty="0"/>
          </a:p>
        </p:txBody>
      </p:sp>
      <p:sp>
        <p:nvSpPr>
          <p:cNvPr id="4" name="Text 2"/>
          <p:cNvSpPr/>
          <p:nvPr/>
        </p:nvSpPr>
        <p:spPr>
          <a:xfrm>
            <a:off x="1520202" y="1810315"/>
            <a:ext cx="3236976" cy="512064"/>
          </a:xfrm>
          <a:prstGeom prst="rect">
            <a:avLst/>
          </a:prstGeom>
          <a:noFill/>
          <a:ln/>
        </p:spPr>
        <p:txBody>
          <a:bodyPr wrap="square" lIns="95250" tIns="95250" rIns="95250" bIns="95250" rtlCol="0" anchor="t"/>
          <a:lstStyle/>
          <a:p>
            <a:pPr marL="0" indent="0">
              <a:lnSpc>
                <a:spcPct val="112500"/>
              </a:lnSpc>
              <a:spcBef>
                <a:spcPts val="375"/>
              </a:spcBef>
              <a:buNone/>
            </a:pPr>
            <a:r>
              <a:rPr lang="en-US" sz="1728" dirty="0">
                <a:solidFill>
                  <a:srgbClr val="000000"/>
                </a:solidFill>
                <a:latin typeface="Microsoft Yahei" pitchFamily="34" charset="0"/>
                <a:ea typeface="Microsoft Yahei" pitchFamily="34" charset="-122"/>
                <a:cs typeface="Microsoft Yahei" pitchFamily="34" charset="-120"/>
              </a:rPr>
              <a:t>电子商务平台概述</a:t>
            </a:r>
            <a:endParaRPr lang="en-US" sz="1440" dirty="0"/>
          </a:p>
        </p:txBody>
      </p:sp>
      <p:sp>
        <p:nvSpPr>
          <p:cNvPr id="5" name="Text 3"/>
          <p:cNvSpPr/>
          <p:nvPr/>
        </p:nvSpPr>
        <p:spPr>
          <a:xfrm>
            <a:off x="966844" y="1764595"/>
            <a:ext cx="713232" cy="621792"/>
          </a:xfrm>
          <a:prstGeom prst="rect">
            <a:avLst/>
          </a:prstGeom>
          <a:noFill/>
          <a:ln/>
        </p:spPr>
        <p:txBody>
          <a:bodyPr wrap="square" lIns="95250" tIns="95250" rIns="95250" bIns="95250" rtlCol="0" anchor="t"/>
          <a:lstStyle/>
          <a:p>
            <a:pPr marL="0" indent="0">
              <a:lnSpc>
                <a:spcPct val="112500"/>
              </a:lnSpc>
              <a:spcBef>
                <a:spcPts val="375"/>
              </a:spcBef>
              <a:buNone/>
            </a:pPr>
            <a:r>
              <a:rPr lang="en-US" sz="2304" b="1" dirty="0">
                <a:solidFill>
                  <a:srgbClr val="000000"/>
                </a:solidFill>
                <a:latin typeface="Microsoft Yahei" pitchFamily="34" charset="0"/>
                <a:ea typeface="Microsoft Yahei" pitchFamily="34" charset="-122"/>
                <a:cs typeface="Microsoft Yahei" pitchFamily="34" charset="-120"/>
              </a:rPr>
              <a:t>01</a:t>
            </a:r>
            <a:endParaRPr lang="en-US" sz="1440" dirty="0"/>
          </a:p>
        </p:txBody>
      </p:sp>
      <p:sp>
        <p:nvSpPr>
          <p:cNvPr id="6" name="Text 4"/>
          <p:cNvSpPr/>
          <p:nvPr/>
        </p:nvSpPr>
        <p:spPr>
          <a:xfrm>
            <a:off x="5334968" y="1810315"/>
            <a:ext cx="3236855" cy="512064"/>
          </a:xfrm>
          <a:prstGeom prst="rect">
            <a:avLst/>
          </a:prstGeom>
          <a:noFill/>
          <a:ln/>
        </p:spPr>
        <p:txBody>
          <a:bodyPr wrap="square" lIns="95250" tIns="95250" rIns="95250" bIns="95250" rtlCol="0" anchor="t"/>
          <a:lstStyle/>
          <a:p>
            <a:pPr marL="0" indent="0">
              <a:lnSpc>
                <a:spcPct val="112500"/>
              </a:lnSpc>
              <a:spcBef>
                <a:spcPts val="375"/>
              </a:spcBef>
              <a:buNone/>
            </a:pPr>
            <a:r>
              <a:rPr lang="en-US" sz="1728" dirty="0">
                <a:solidFill>
                  <a:srgbClr val="000000"/>
                </a:solidFill>
                <a:latin typeface="Microsoft Yahei" pitchFamily="34" charset="0"/>
                <a:ea typeface="Microsoft Yahei" pitchFamily="34" charset="-122"/>
                <a:cs typeface="Microsoft Yahei" pitchFamily="34" charset="-120"/>
              </a:rPr>
              <a:t>系统设计与实现</a:t>
            </a:r>
            <a:endParaRPr lang="en-US" sz="1440" dirty="0"/>
          </a:p>
        </p:txBody>
      </p:sp>
      <p:sp>
        <p:nvSpPr>
          <p:cNvPr id="7" name="Text 5"/>
          <p:cNvSpPr/>
          <p:nvPr/>
        </p:nvSpPr>
        <p:spPr>
          <a:xfrm>
            <a:off x="4781610" y="1764595"/>
            <a:ext cx="713232" cy="621792"/>
          </a:xfrm>
          <a:prstGeom prst="rect">
            <a:avLst/>
          </a:prstGeom>
          <a:noFill/>
          <a:ln/>
        </p:spPr>
        <p:txBody>
          <a:bodyPr wrap="square" lIns="95250" tIns="95250" rIns="95250" bIns="95250" rtlCol="0" anchor="t"/>
          <a:lstStyle/>
          <a:p>
            <a:pPr marL="0" indent="0">
              <a:lnSpc>
                <a:spcPct val="112500"/>
              </a:lnSpc>
              <a:spcBef>
                <a:spcPts val="375"/>
              </a:spcBef>
              <a:buNone/>
            </a:pPr>
            <a:r>
              <a:rPr lang="en-US" sz="2304" b="1" dirty="0">
                <a:solidFill>
                  <a:srgbClr val="000000"/>
                </a:solidFill>
                <a:latin typeface="Microsoft Yahei" pitchFamily="34" charset="0"/>
                <a:ea typeface="Microsoft Yahei" pitchFamily="34" charset="-122"/>
                <a:cs typeface="Microsoft Yahei" pitchFamily="34" charset="-120"/>
              </a:rPr>
              <a:t>02</a:t>
            </a:r>
            <a:endParaRPr lang="en-US" sz="1440" dirty="0"/>
          </a:p>
        </p:txBody>
      </p:sp>
      <p:sp>
        <p:nvSpPr>
          <p:cNvPr id="8" name="Text 6"/>
          <p:cNvSpPr/>
          <p:nvPr/>
        </p:nvSpPr>
        <p:spPr>
          <a:xfrm>
            <a:off x="1520354" y="2438812"/>
            <a:ext cx="3236976" cy="512064"/>
          </a:xfrm>
          <a:prstGeom prst="rect">
            <a:avLst/>
          </a:prstGeom>
          <a:noFill/>
          <a:ln/>
        </p:spPr>
        <p:txBody>
          <a:bodyPr wrap="square" lIns="95250" tIns="95250" rIns="95250" bIns="95250" rtlCol="0" anchor="t"/>
          <a:lstStyle/>
          <a:p>
            <a:pPr marL="0" indent="0">
              <a:lnSpc>
                <a:spcPct val="112500"/>
              </a:lnSpc>
              <a:spcBef>
                <a:spcPts val="375"/>
              </a:spcBef>
              <a:buNone/>
            </a:pPr>
            <a:r>
              <a:rPr lang="en-US" sz="1728" dirty="0">
                <a:solidFill>
                  <a:srgbClr val="000000"/>
                </a:solidFill>
                <a:latin typeface="Microsoft Yahei" pitchFamily="34" charset="0"/>
                <a:ea typeface="Microsoft Yahei" pitchFamily="34" charset="-122"/>
                <a:cs typeface="Microsoft Yahei" pitchFamily="34" charset="-120"/>
              </a:rPr>
              <a:t>数据库设计</a:t>
            </a:r>
            <a:endParaRPr lang="en-US" sz="1440" dirty="0"/>
          </a:p>
        </p:txBody>
      </p:sp>
      <p:sp>
        <p:nvSpPr>
          <p:cNvPr id="9" name="Text 7"/>
          <p:cNvSpPr/>
          <p:nvPr/>
        </p:nvSpPr>
        <p:spPr>
          <a:xfrm>
            <a:off x="966996" y="2393092"/>
            <a:ext cx="713232" cy="621792"/>
          </a:xfrm>
          <a:prstGeom prst="rect">
            <a:avLst/>
          </a:prstGeom>
          <a:noFill/>
          <a:ln/>
        </p:spPr>
        <p:txBody>
          <a:bodyPr wrap="square" lIns="95250" tIns="95250" rIns="95250" bIns="95250" rtlCol="0" anchor="t"/>
          <a:lstStyle/>
          <a:p>
            <a:pPr marL="0" indent="0">
              <a:lnSpc>
                <a:spcPct val="112500"/>
              </a:lnSpc>
              <a:spcBef>
                <a:spcPts val="375"/>
              </a:spcBef>
              <a:buNone/>
            </a:pPr>
            <a:r>
              <a:rPr lang="en-US" sz="2304" b="1" dirty="0">
                <a:solidFill>
                  <a:srgbClr val="000000"/>
                </a:solidFill>
                <a:latin typeface="Microsoft Yahei" pitchFamily="34" charset="0"/>
                <a:ea typeface="Microsoft Yahei" pitchFamily="34" charset="-122"/>
                <a:cs typeface="Microsoft Yahei" pitchFamily="34" charset="-120"/>
              </a:rPr>
              <a:t>03</a:t>
            </a:r>
            <a:endParaRPr lang="en-US" sz="1440" dirty="0"/>
          </a:p>
        </p:txBody>
      </p:sp>
      <p:sp>
        <p:nvSpPr>
          <p:cNvPr id="10" name="Text 8"/>
          <p:cNvSpPr/>
          <p:nvPr/>
        </p:nvSpPr>
        <p:spPr>
          <a:xfrm>
            <a:off x="5334846" y="2438812"/>
            <a:ext cx="3236976" cy="512064"/>
          </a:xfrm>
          <a:prstGeom prst="rect">
            <a:avLst/>
          </a:prstGeom>
          <a:noFill/>
          <a:ln/>
        </p:spPr>
        <p:txBody>
          <a:bodyPr wrap="square" lIns="95250" tIns="95250" rIns="95250" bIns="95250" rtlCol="0" anchor="t"/>
          <a:lstStyle/>
          <a:p>
            <a:pPr marL="0" indent="0">
              <a:lnSpc>
                <a:spcPct val="112500"/>
              </a:lnSpc>
              <a:spcBef>
                <a:spcPts val="375"/>
              </a:spcBef>
              <a:buNone/>
            </a:pPr>
            <a:r>
              <a:rPr lang="en-US" sz="1728" dirty="0">
                <a:solidFill>
                  <a:srgbClr val="000000"/>
                </a:solidFill>
                <a:latin typeface="Microsoft Yahei" pitchFamily="34" charset="0"/>
                <a:ea typeface="Microsoft Yahei" pitchFamily="34" charset="-122"/>
                <a:cs typeface="Microsoft Yahei" pitchFamily="34" charset="-120"/>
              </a:rPr>
              <a:t>系统测试</a:t>
            </a:r>
            <a:endParaRPr lang="en-US" sz="1440" dirty="0"/>
          </a:p>
        </p:txBody>
      </p:sp>
      <p:sp>
        <p:nvSpPr>
          <p:cNvPr id="11" name="Text 9"/>
          <p:cNvSpPr/>
          <p:nvPr/>
        </p:nvSpPr>
        <p:spPr>
          <a:xfrm>
            <a:off x="4781488" y="2393092"/>
            <a:ext cx="713232" cy="621792"/>
          </a:xfrm>
          <a:prstGeom prst="rect">
            <a:avLst/>
          </a:prstGeom>
          <a:noFill/>
          <a:ln/>
        </p:spPr>
        <p:txBody>
          <a:bodyPr wrap="square" lIns="95250" tIns="95250" rIns="95250" bIns="95250" rtlCol="0" anchor="t"/>
          <a:lstStyle/>
          <a:p>
            <a:pPr marL="0" indent="0">
              <a:lnSpc>
                <a:spcPct val="112500"/>
              </a:lnSpc>
              <a:spcBef>
                <a:spcPts val="375"/>
              </a:spcBef>
              <a:buNone/>
            </a:pPr>
            <a:r>
              <a:rPr lang="en-US" sz="2304" b="1" dirty="0">
                <a:solidFill>
                  <a:srgbClr val="000000"/>
                </a:solidFill>
                <a:latin typeface="Microsoft Yahei" pitchFamily="34" charset="0"/>
                <a:ea typeface="Microsoft Yahei" pitchFamily="34" charset="-122"/>
                <a:cs typeface="Microsoft Yahei" pitchFamily="34" charset="-120"/>
              </a:rPr>
              <a:t>04</a:t>
            </a:r>
            <a:endParaRPr lang="en-US" sz="1440" dirty="0"/>
          </a:p>
        </p:txBody>
      </p:sp>
      <p:sp>
        <p:nvSpPr>
          <p:cNvPr id="12" name="Text 10"/>
          <p:cNvSpPr/>
          <p:nvPr/>
        </p:nvSpPr>
        <p:spPr>
          <a:xfrm>
            <a:off x="1520281" y="3067310"/>
            <a:ext cx="3236976" cy="512064"/>
          </a:xfrm>
          <a:prstGeom prst="rect">
            <a:avLst/>
          </a:prstGeom>
          <a:noFill/>
          <a:ln/>
        </p:spPr>
        <p:txBody>
          <a:bodyPr wrap="square" lIns="95250" tIns="95250" rIns="95250" bIns="95250" rtlCol="0" anchor="t"/>
          <a:lstStyle/>
          <a:p>
            <a:pPr marL="0" indent="0">
              <a:lnSpc>
                <a:spcPct val="112500"/>
              </a:lnSpc>
              <a:spcBef>
                <a:spcPts val="375"/>
              </a:spcBef>
              <a:buNone/>
            </a:pPr>
            <a:r>
              <a:rPr lang="en-US" sz="1728" dirty="0">
                <a:solidFill>
                  <a:srgbClr val="000000"/>
                </a:solidFill>
                <a:latin typeface="Microsoft Yahei" pitchFamily="34" charset="0"/>
                <a:ea typeface="Microsoft Yahei" pitchFamily="34" charset="-122"/>
                <a:cs typeface="Microsoft Yahei" pitchFamily="34" charset="-120"/>
              </a:rPr>
              <a:t>学习感悟与展望</a:t>
            </a:r>
            <a:endParaRPr lang="en-US" sz="1440" dirty="0"/>
          </a:p>
        </p:txBody>
      </p:sp>
      <p:sp>
        <p:nvSpPr>
          <p:cNvPr id="13" name="Text 11"/>
          <p:cNvSpPr/>
          <p:nvPr/>
        </p:nvSpPr>
        <p:spPr>
          <a:xfrm>
            <a:off x="966924" y="3021590"/>
            <a:ext cx="713232" cy="621792"/>
          </a:xfrm>
          <a:prstGeom prst="rect">
            <a:avLst/>
          </a:prstGeom>
          <a:noFill/>
          <a:ln/>
        </p:spPr>
        <p:txBody>
          <a:bodyPr wrap="square" lIns="95250" tIns="95250" rIns="95250" bIns="95250" rtlCol="0" anchor="t"/>
          <a:lstStyle/>
          <a:p>
            <a:pPr marL="0" indent="0">
              <a:lnSpc>
                <a:spcPct val="112500"/>
              </a:lnSpc>
              <a:spcBef>
                <a:spcPts val="375"/>
              </a:spcBef>
              <a:buNone/>
            </a:pPr>
            <a:r>
              <a:rPr lang="en-US" sz="2304" b="1" dirty="0">
                <a:solidFill>
                  <a:srgbClr val="000000"/>
                </a:solidFill>
                <a:latin typeface="Microsoft Yahei" pitchFamily="34" charset="0"/>
                <a:ea typeface="Microsoft Yahei" pitchFamily="34" charset="-122"/>
                <a:cs typeface="Microsoft Yahei" pitchFamily="34" charset="-120"/>
              </a:rPr>
              <a:t>05</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16287" y="1025211"/>
            <a:ext cx="1085027" cy="731520"/>
          </a:xfrm>
          <a:prstGeom prst="rect">
            <a:avLst/>
          </a:prstGeom>
          <a:noFill/>
          <a:ln/>
        </p:spPr>
        <p:txBody>
          <a:bodyPr wrap="square" lIns="95250" tIns="95250" rIns="95250" bIns="95250" rtlCol="0" anchor="t"/>
          <a:lstStyle/>
          <a:p>
            <a:pPr marL="0" indent="0" algn="ctr">
              <a:lnSpc>
                <a:spcPct val="100000"/>
              </a:lnSpc>
              <a:spcBef>
                <a:spcPts val="375"/>
              </a:spcBef>
              <a:buNone/>
            </a:pPr>
            <a:r>
              <a:rPr lang="en-US" sz="4320" b="1" dirty="0">
                <a:solidFill>
                  <a:srgbClr val="2E3E74"/>
                </a:solidFill>
                <a:latin typeface="Microsoft Yahei" pitchFamily="34" charset="0"/>
                <a:ea typeface="Microsoft Yahei" pitchFamily="34" charset="-122"/>
                <a:cs typeface="Microsoft Yahei" pitchFamily="34" charset="-120"/>
              </a:rPr>
              <a:t>01</a:t>
            </a:r>
            <a:endParaRPr lang="en-US" sz="1440" dirty="0"/>
          </a:p>
        </p:txBody>
      </p:sp>
      <p:sp>
        <p:nvSpPr>
          <p:cNvPr id="3" name="Text 1"/>
          <p:cNvSpPr/>
          <p:nvPr/>
        </p:nvSpPr>
        <p:spPr>
          <a:xfrm>
            <a:off x="395202" y="2205990"/>
            <a:ext cx="8342856" cy="731520"/>
          </a:xfrm>
          <a:prstGeom prst="rect">
            <a:avLst/>
          </a:prstGeom>
          <a:noFill/>
          <a:ln/>
        </p:spPr>
        <p:txBody>
          <a:bodyPr wrap="square" lIns="95250" tIns="95250" rIns="95250" bIns="95250" rtlCol="0" anchor="t"/>
          <a:lstStyle/>
          <a:p>
            <a:pPr marL="0" indent="0" algn="ctr">
              <a:lnSpc>
                <a:spcPct val="112500"/>
              </a:lnSpc>
              <a:spcBef>
                <a:spcPts val="375"/>
              </a:spcBef>
              <a:buNone/>
            </a:pPr>
            <a:r>
              <a:rPr lang="en-US" sz="2880" b="1" dirty="0">
                <a:solidFill>
                  <a:srgbClr val="3D4D83"/>
                </a:solidFill>
                <a:latin typeface="Microsoft Yahei" pitchFamily="34" charset="0"/>
                <a:ea typeface="Microsoft Yahei" pitchFamily="34" charset="-122"/>
                <a:cs typeface="Microsoft Yahei" pitchFamily="34" charset="-120"/>
              </a:rPr>
              <a:t>电子商务平台概述</a:t>
            </a:r>
            <a:endParaRPr lang="en-US" sz="14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lstStyle/>
          <a:p>
            <a:pPr marL="0" indent="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开发语言与框架</a:t>
            </a:r>
            <a:endParaRPr lang="en-US" sz="1440" dirty="0"/>
          </a:p>
        </p:txBody>
      </p:sp>
      <p:sp>
        <p:nvSpPr>
          <p:cNvPr id="3" name="Shape 1"/>
          <p:cNvSpPr/>
          <p:nvPr/>
        </p:nvSpPr>
        <p:spPr>
          <a:xfrm>
            <a:off x="1575236" y="1315640"/>
            <a:ext cx="7243956" cy="3189636"/>
          </a:xfrm>
          <a:custGeom>
            <a:avLst/>
            <a:gdLst/>
            <a:ahLst/>
            <a:cxnLst/>
            <a:rect l="l" t="t" r="r" b="b"/>
            <a:pathLst>
              <a:path w="7243956" h="3189636">
                <a:moveTo>
                  <a:pt x="398705" y="0"/>
                </a:moveTo>
                <a:moveTo>
                  <a:pt x="398705" y="0"/>
                </a:moveTo>
                <a:lnTo>
                  <a:pt x="6845251" y="0"/>
                </a:lnTo>
                <a:quadBezTo>
                  <a:pt x="7243956" y="0"/>
                  <a:pt x="7243956" y="398705"/>
                </a:quadBezTo>
                <a:lnTo>
                  <a:pt x="7243956" y="2790932"/>
                </a:lnTo>
                <a:quadBezTo>
                  <a:pt x="7243956" y="3189636"/>
                  <a:pt x="6845251" y="3189636"/>
                </a:quadBezTo>
                <a:lnTo>
                  <a:pt x="398705" y="3189636"/>
                </a:lnTo>
                <a:quadBezTo>
                  <a:pt x="0" y="3189636"/>
                  <a:pt x="0" y="2790932"/>
                </a:quadBezTo>
                <a:lnTo>
                  <a:pt x="0" y="398705"/>
                </a:lnTo>
                <a:quadBezTo>
                  <a:pt x="0" y="0"/>
                  <a:pt x="398705" y="0"/>
                </a:quadBezTo>
                <a:close/>
              </a:path>
            </a:pathLst>
          </a:custGeom>
          <a:solidFill>
            <a:srgbClr val="0084FF">
              <a:alpha val="0"/>
            </a:srgbClr>
          </a:solidFill>
          <a:ln w="95250">
            <a:solidFill>
              <a:srgbClr val="3D4D83">
                <a:alpha val="12157"/>
              </a:srgbClr>
            </a:solidFill>
            <a:prstDash val="solid"/>
          </a:ln>
        </p:spPr>
      </p:sp>
      <p:sp>
        <p:nvSpPr>
          <p:cNvPr id="4" name="Shape 2"/>
          <p:cNvSpPr/>
          <p:nvPr/>
        </p:nvSpPr>
        <p:spPr>
          <a:xfrm>
            <a:off x="246513" y="1093905"/>
            <a:ext cx="2152158" cy="3583954"/>
          </a:xfrm>
          <a:custGeom>
            <a:avLst/>
            <a:gdLst/>
            <a:ahLst/>
            <a:cxnLst/>
            <a:rect l="l" t="t" r="r" b="b"/>
            <a:pathLst>
              <a:path w="2152158" h="3583954">
                <a:moveTo>
                  <a:pt x="98930" y="0"/>
                </a:moveTo>
                <a:moveTo>
                  <a:pt x="98930" y="0"/>
                </a:moveTo>
                <a:lnTo>
                  <a:pt x="2053228" y="0"/>
                </a:lnTo>
                <a:quadBezTo>
                  <a:pt x="2152158" y="0"/>
                  <a:pt x="2152158" y="98930"/>
                </a:quadBezTo>
                <a:lnTo>
                  <a:pt x="2152158" y="3485024"/>
                </a:lnTo>
                <a:quadBezTo>
                  <a:pt x="2152158" y="3583954"/>
                  <a:pt x="2053228" y="3583954"/>
                </a:quadBezTo>
                <a:lnTo>
                  <a:pt x="98930" y="3583954"/>
                </a:lnTo>
                <a:quadBezTo>
                  <a:pt x="0" y="3583954"/>
                  <a:pt x="0" y="3485024"/>
                </a:quadBezTo>
                <a:lnTo>
                  <a:pt x="0" y="98930"/>
                </a:lnTo>
                <a:quadBezTo>
                  <a:pt x="0" y="0"/>
                  <a:pt x="98930" y="0"/>
                </a:quadBezTo>
                <a:close/>
              </a:path>
            </a:pathLst>
          </a:custGeom>
          <a:solidFill>
            <a:srgbClr val="0084FF"/>
          </a:solidFill>
          <a:ln/>
        </p:spPr>
      </p:sp>
      <p:pic>
        <p:nvPicPr>
          <p:cNvPr id="5" name="Image 0" descr="preencoded.png"/>
          <p:cNvPicPr>
            <a:picLocks noChangeAspect="1"/>
          </p:cNvPicPr>
          <p:nvPr/>
        </p:nvPicPr>
        <p:blipFill>
          <a:blip r:embed="rId4"/>
          <a:stretch>
            <a:fillRect/>
          </a:stretch>
        </p:blipFill>
        <p:spPr>
          <a:xfrm>
            <a:off x="2847067" y="2040271"/>
            <a:ext cx="1714500" cy="457200"/>
          </a:xfrm>
          <a:prstGeom prst="rect">
            <a:avLst/>
          </a:prstGeom>
        </p:spPr>
      </p:pic>
      <p:pic>
        <p:nvPicPr>
          <p:cNvPr id="6" name="Image 1" descr="preencoded.png"/>
          <p:cNvPicPr>
            <a:picLocks noChangeAspect="1"/>
          </p:cNvPicPr>
          <p:nvPr/>
        </p:nvPicPr>
        <p:blipFill>
          <a:blip r:embed="rId4"/>
          <a:stretch>
            <a:fillRect/>
          </a:stretch>
        </p:blipFill>
        <p:spPr>
          <a:xfrm>
            <a:off x="4773543" y="2040271"/>
            <a:ext cx="1714500" cy="457200"/>
          </a:xfrm>
          <a:prstGeom prst="rect">
            <a:avLst/>
          </a:prstGeom>
        </p:spPr>
      </p:pic>
      <p:pic>
        <p:nvPicPr>
          <p:cNvPr id="7" name="Image 2" descr="preencoded.png"/>
          <p:cNvPicPr>
            <a:picLocks noChangeAspect="1"/>
          </p:cNvPicPr>
          <p:nvPr/>
        </p:nvPicPr>
        <p:blipFill>
          <a:blip r:embed="rId4"/>
          <a:stretch>
            <a:fillRect/>
          </a:stretch>
        </p:blipFill>
        <p:spPr>
          <a:xfrm>
            <a:off x="6700019" y="2040271"/>
            <a:ext cx="1714500" cy="457200"/>
          </a:xfrm>
          <a:prstGeom prst="rect">
            <a:avLst/>
          </a:prstGeom>
        </p:spPr>
      </p:pic>
      <p:sp>
        <p:nvSpPr>
          <p:cNvPr id="8" name="Text 3"/>
          <p:cNvSpPr/>
          <p:nvPr/>
        </p:nvSpPr>
        <p:spPr>
          <a:xfrm>
            <a:off x="2847067" y="1628791"/>
            <a:ext cx="1926476" cy="374904"/>
          </a:xfrm>
          <a:prstGeom prst="rect">
            <a:avLst/>
          </a:prstGeom>
          <a:noFill/>
          <a:ln/>
        </p:spPr>
        <p:txBody>
          <a:bodyPr wrap="square" lIns="95250" tIns="95250" rIns="95250" bIns="95250" rtlCol="0" anchor="t"/>
          <a:lstStyle/>
          <a:p>
            <a:pPr marL="0" indent="0">
              <a:lnSpc>
                <a:spcPct val="100000"/>
              </a:lnSpc>
              <a:spcBef>
                <a:spcPts val="375"/>
              </a:spcBef>
              <a:buNone/>
            </a:pPr>
            <a:r>
              <a:rPr lang="en-US" sz="1584" b="1" dirty="0">
                <a:solidFill>
                  <a:srgbClr val="3D4D83"/>
                </a:solidFill>
                <a:latin typeface="Noto Sans" pitchFamily="34" charset="0"/>
                <a:ea typeface="Noto Sans" pitchFamily="34" charset="-122"/>
                <a:cs typeface="Noto Sans" pitchFamily="34" charset="-120"/>
              </a:rPr>
              <a:t>Java语言的优势</a:t>
            </a:r>
            <a:endParaRPr lang="en-US" sz="1440" dirty="0"/>
          </a:p>
        </p:txBody>
      </p:sp>
      <p:pic>
        <p:nvPicPr>
          <p:cNvPr id="9" name="Image 3" descr="https://sgw-dx.xf-yun.com/api/v1/sparkdesk/_174392500513975573ef2f4854e3a8ba65da6a7eb1c7b.jpg?authorization=c2ltcGxlLWp3dCBhaz1zcGFya2Rlc2s4MDAwMDAwMDAwMDE7ZXhwPTMzMjA3MjUwMDU7YWxnbz1obWFjLXNoYTI1NjtzaWc9UU9lc1FxU2ZRVklRbDAxMkY4V09zUVpucStPOEU4QlZjNVZCN3pEeWM3dz0=&amp;x_location=7YfmxI7B7uKO7jlRxIftd6UoeLD="/>
          <p:cNvPicPr>
            <a:picLocks noChangeAspect="1"/>
          </p:cNvPicPr>
          <p:nvPr/>
        </p:nvPicPr>
        <p:blipFill>
          <a:blip r:embed="rId5"/>
          <a:srcRect l="20000" r="20000"/>
          <a:stretch/>
        </p:blipFill>
        <p:spPr>
          <a:xfrm>
            <a:off x="402359" y="970369"/>
            <a:ext cx="2152180" cy="3583848"/>
          </a:xfrm>
          <a:prstGeom prst="rect">
            <a:avLst/>
          </a:prstGeom>
        </p:spPr>
      </p:pic>
      <p:sp>
        <p:nvSpPr>
          <p:cNvPr id="10" name="Text 4"/>
          <p:cNvSpPr/>
          <p:nvPr/>
        </p:nvSpPr>
        <p:spPr>
          <a:xfrm>
            <a:off x="2847067" y="2333760"/>
            <a:ext cx="1645920" cy="1280160"/>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Java作为一种面向对象的编程语言，以其跨平台性、稳定性和安全性著称。它广泛应用于企业级应用开发，为系统提供了强大的后端支持。</a:t>
            </a:r>
            <a:endParaRPr lang="en-US" sz="1440" dirty="0"/>
          </a:p>
        </p:txBody>
      </p:sp>
      <p:sp>
        <p:nvSpPr>
          <p:cNvPr id="11" name="Text 5"/>
          <p:cNvSpPr/>
          <p:nvPr/>
        </p:nvSpPr>
        <p:spPr>
          <a:xfrm>
            <a:off x="4773543" y="1628791"/>
            <a:ext cx="1926476" cy="347472"/>
          </a:xfrm>
          <a:prstGeom prst="rect">
            <a:avLst/>
          </a:prstGeom>
          <a:noFill/>
          <a:ln/>
        </p:spPr>
        <p:txBody>
          <a:bodyPr wrap="square" lIns="95250" tIns="95250" rIns="95250" bIns="95250" rtlCol="0" anchor="t"/>
          <a:lstStyle/>
          <a:p>
            <a:pPr marL="0" indent="0">
              <a:lnSpc>
                <a:spcPct val="100000"/>
              </a:lnSpc>
              <a:spcBef>
                <a:spcPts val="375"/>
              </a:spcBef>
              <a:buNone/>
            </a:pPr>
            <a:r>
              <a:rPr lang="en-US" sz="1584" b="1" dirty="0">
                <a:solidFill>
                  <a:srgbClr val="3D4D83"/>
                </a:solidFill>
                <a:latin typeface="Noto Sans" pitchFamily="34" charset="0"/>
                <a:ea typeface="Noto Sans" pitchFamily="34" charset="-122"/>
                <a:cs typeface="Noto Sans" pitchFamily="34" charset="-120"/>
              </a:rPr>
              <a:t>SSM框架简介</a:t>
            </a:r>
            <a:endParaRPr lang="en-US" sz="1440" dirty="0"/>
          </a:p>
        </p:txBody>
      </p:sp>
      <p:sp>
        <p:nvSpPr>
          <p:cNvPr id="12" name="Text 6"/>
          <p:cNvSpPr/>
          <p:nvPr/>
        </p:nvSpPr>
        <p:spPr>
          <a:xfrm>
            <a:off x="4773543" y="2333760"/>
            <a:ext cx="1645920" cy="1280160"/>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SSM框架，即Spring、Spring MVC和MyBatis的组合，是一种流行的Java企业级应用开发框架。它简化了数据持久化、业务逻辑处理和Web层开发，提高了开发效率。</a:t>
            </a:r>
            <a:endParaRPr lang="en-US" sz="1440" dirty="0"/>
          </a:p>
        </p:txBody>
      </p:sp>
      <p:sp>
        <p:nvSpPr>
          <p:cNvPr id="13" name="Text 7"/>
          <p:cNvSpPr/>
          <p:nvPr/>
        </p:nvSpPr>
        <p:spPr>
          <a:xfrm>
            <a:off x="6700019" y="1628791"/>
            <a:ext cx="1934824" cy="347472"/>
          </a:xfrm>
          <a:prstGeom prst="rect">
            <a:avLst/>
          </a:prstGeom>
          <a:noFill/>
          <a:ln/>
        </p:spPr>
        <p:txBody>
          <a:bodyPr wrap="square" lIns="95250" tIns="95250" rIns="95250" bIns="95250" rtlCol="0" anchor="t"/>
          <a:lstStyle/>
          <a:p>
            <a:pPr marL="0" indent="0">
              <a:lnSpc>
                <a:spcPct val="100000"/>
              </a:lnSpc>
              <a:spcBef>
                <a:spcPts val="375"/>
              </a:spcBef>
              <a:buNone/>
            </a:pPr>
            <a:r>
              <a:rPr lang="en-US" sz="1584" b="1" dirty="0">
                <a:solidFill>
                  <a:srgbClr val="3D4D83"/>
                </a:solidFill>
                <a:latin typeface="Noto Sans" pitchFamily="34" charset="0"/>
                <a:ea typeface="Noto Sans" pitchFamily="34" charset="-122"/>
                <a:cs typeface="Noto Sans" pitchFamily="34" charset="-120"/>
              </a:rPr>
              <a:t>系统架构设计</a:t>
            </a:r>
            <a:endParaRPr lang="en-US" sz="1440" dirty="0"/>
          </a:p>
        </p:txBody>
      </p:sp>
      <p:sp>
        <p:nvSpPr>
          <p:cNvPr id="14" name="Text 8"/>
          <p:cNvSpPr/>
          <p:nvPr/>
        </p:nvSpPr>
        <p:spPr>
          <a:xfrm>
            <a:off x="6700019" y="2333760"/>
            <a:ext cx="1645920" cy="1280160"/>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本系统采用Java语言结合SSM框架进行开发，实现了高效的业务逻辑处理和数据管理。这种架构设计确保了系统的可扩展性和可维护性，满足未来业务发展需求。</a:t>
            </a:r>
            <a:endParaRPr lang="en-US" sz="14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lstStyle/>
          <a:p>
            <a:pPr marL="0" indent="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功能模块介绍</a:t>
            </a:r>
            <a:endParaRPr lang="en-US" sz="1440" dirty="0"/>
          </a:p>
        </p:txBody>
      </p:sp>
      <p:sp>
        <p:nvSpPr>
          <p:cNvPr id="3" name="Shape 1"/>
          <p:cNvSpPr/>
          <p:nvPr/>
        </p:nvSpPr>
        <p:spPr>
          <a:xfrm rot="-366000">
            <a:off x="493557" y="1323357"/>
            <a:ext cx="2450592" cy="3206175"/>
          </a:xfrm>
          <a:custGeom>
            <a:avLst/>
            <a:gdLst/>
            <a:ahLst/>
            <a:cxnLst/>
            <a:rect l="l" t="t" r="r" b="b"/>
            <a:pathLst>
              <a:path w="2450592" h="3206175">
                <a:moveTo>
                  <a:pt x="216394" y="0"/>
                </a:moveTo>
                <a:moveTo>
                  <a:pt x="216394" y="0"/>
                </a:moveTo>
                <a:lnTo>
                  <a:pt x="2234198" y="0"/>
                </a:lnTo>
                <a:quadBezTo>
                  <a:pt x="2450592" y="0"/>
                  <a:pt x="2450592" y="272930"/>
                </a:quadBezTo>
                <a:lnTo>
                  <a:pt x="2450592" y="2933245"/>
                </a:lnTo>
                <a:quadBezTo>
                  <a:pt x="2450592" y="3206175"/>
                  <a:pt x="2234198" y="3206175"/>
                </a:quadBezTo>
                <a:lnTo>
                  <a:pt x="216394" y="3206175"/>
                </a:lnTo>
                <a:quadBezTo>
                  <a:pt x="0" y="3206175"/>
                  <a:pt x="0" y="2933245"/>
                </a:quadBezTo>
                <a:lnTo>
                  <a:pt x="0" y="272930"/>
                </a:lnTo>
                <a:quadBezTo>
                  <a:pt x="0" y="0"/>
                  <a:pt x="216394" y="0"/>
                </a:quadBezTo>
                <a:close/>
              </a:path>
            </a:pathLst>
          </a:custGeom>
          <a:solidFill>
            <a:srgbClr val="0084FF">
              <a:alpha val="0"/>
            </a:srgbClr>
          </a:solidFill>
          <a:ln w="19050">
            <a:solidFill>
              <a:srgbClr val="3D4D83"/>
            </a:solidFill>
            <a:prstDash val="solid"/>
          </a:ln>
        </p:spPr>
      </p:sp>
      <p:sp>
        <p:nvSpPr>
          <p:cNvPr id="4" name="Shape 2"/>
          <p:cNvSpPr/>
          <p:nvPr/>
        </p:nvSpPr>
        <p:spPr>
          <a:xfrm>
            <a:off x="533194" y="1306126"/>
            <a:ext cx="2450592" cy="3206175"/>
          </a:xfrm>
          <a:custGeom>
            <a:avLst/>
            <a:gdLst/>
            <a:ahLst/>
            <a:cxnLst/>
            <a:rect l="l" t="t" r="r" b="b"/>
            <a:pathLst>
              <a:path w="2450592" h="3206175">
                <a:moveTo>
                  <a:pt x="216394" y="0"/>
                </a:moveTo>
                <a:moveTo>
                  <a:pt x="216394" y="0"/>
                </a:moveTo>
                <a:lnTo>
                  <a:pt x="2234198" y="0"/>
                </a:lnTo>
                <a:quadBezTo>
                  <a:pt x="2450592" y="0"/>
                  <a:pt x="2450592" y="272930"/>
                </a:quadBezTo>
                <a:lnTo>
                  <a:pt x="2450592" y="2933245"/>
                </a:lnTo>
                <a:quadBezTo>
                  <a:pt x="2450592" y="3206175"/>
                  <a:pt x="2234198" y="3206175"/>
                </a:quadBezTo>
                <a:lnTo>
                  <a:pt x="216394" y="3206175"/>
                </a:lnTo>
                <a:quadBezTo>
                  <a:pt x="0" y="3206175"/>
                  <a:pt x="0" y="2933245"/>
                </a:quadBezTo>
                <a:lnTo>
                  <a:pt x="0" y="272930"/>
                </a:lnTo>
                <a:quadBezTo>
                  <a:pt x="0" y="0"/>
                  <a:pt x="216394" y="0"/>
                </a:quadBezTo>
                <a:close/>
              </a:path>
            </a:pathLst>
          </a:custGeom>
          <a:solidFill>
            <a:srgbClr val="A2E5B9">
              <a:alpha val="0"/>
            </a:srgbClr>
          </a:solidFill>
          <a:ln w="19050">
            <a:solidFill>
              <a:srgbClr val="3D4D83"/>
            </a:solidFill>
            <a:prstDash val="solid"/>
          </a:ln>
        </p:spPr>
      </p:sp>
      <p:sp>
        <p:nvSpPr>
          <p:cNvPr id="5" name="Shape 3"/>
          <p:cNvSpPr/>
          <p:nvPr/>
        </p:nvSpPr>
        <p:spPr>
          <a:xfrm>
            <a:off x="770485" y="1089587"/>
            <a:ext cx="512064" cy="512064"/>
          </a:xfrm>
          <a:custGeom>
            <a:avLst/>
            <a:gdLst/>
            <a:ahLst/>
            <a:cxnLst/>
            <a:rect l="l" t="t" r="r" b="b"/>
            <a:pathLst>
              <a:path w="512064" h="512064">
                <a:moveTo>
                  <a:pt x="256032" y="0"/>
                </a:moveTo>
                <a:moveTo>
                  <a:pt x="256032" y="0"/>
                </a:moveTo>
                <a:cubicBezTo>
                  <a:pt x="397340" y="0"/>
                  <a:pt x="512064" y="114724"/>
                  <a:pt x="512064" y="256032"/>
                </a:cubicBezTo>
                <a:cubicBezTo>
                  <a:pt x="512064" y="397340"/>
                  <a:pt x="397340" y="512064"/>
                  <a:pt x="256032" y="512064"/>
                </a:cubicBezTo>
                <a:cubicBezTo>
                  <a:pt x="114724" y="512064"/>
                  <a:pt x="0" y="397340"/>
                  <a:pt x="0" y="256032"/>
                </a:cubicBezTo>
                <a:cubicBezTo>
                  <a:pt x="0" y="114724"/>
                  <a:pt x="114724" y="0"/>
                  <a:pt x="256032" y="0"/>
                </a:cubicBezTo>
                <a:close/>
              </a:path>
            </a:pathLst>
          </a:custGeom>
          <a:solidFill>
            <a:srgbClr val="0084FF"/>
          </a:solidFill>
          <a:ln/>
        </p:spPr>
      </p:sp>
      <p:sp>
        <p:nvSpPr>
          <p:cNvPr id="6" name="Text 4"/>
          <p:cNvSpPr/>
          <p:nvPr/>
        </p:nvSpPr>
        <p:spPr>
          <a:xfrm>
            <a:off x="610499" y="1057583"/>
            <a:ext cx="813748"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7" name="Shape 5"/>
          <p:cNvSpPr/>
          <p:nvPr/>
        </p:nvSpPr>
        <p:spPr>
          <a:xfrm rot="-366000">
            <a:off x="3346704" y="1323512"/>
            <a:ext cx="2450592" cy="3216829"/>
          </a:xfrm>
          <a:custGeom>
            <a:avLst/>
            <a:gdLst/>
            <a:ahLst/>
            <a:cxnLst/>
            <a:rect l="l" t="t" r="r" b="b"/>
            <a:pathLst>
              <a:path w="2450592" h="3216829">
                <a:moveTo>
                  <a:pt x="216394" y="0"/>
                </a:moveTo>
                <a:moveTo>
                  <a:pt x="216394" y="0"/>
                </a:moveTo>
                <a:lnTo>
                  <a:pt x="2234198" y="0"/>
                </a:lnTo>
                <a:quadBezTo>
                  <a:pt x="2450592" y="0"/>
                  <a:pt x="2450592" y="273837"/>
                </a:quadBezTo>
                <a:lnTo>
                  <a:pt x="2450592" y="2942992"/>
                </a:lnTo>
                <a:quadBezTo>
                  <a:pt x="2450592" y="3216829"/>
                  <a:pt x="2234198" y="3216829"/>
                </a:quadBezTo>
                <a:lnTo>
                  <a:pt x="216394" y="3216829"/>
                </a:lnTo>
                <a:quadBezTo>
                  <a:pt x="0" y="3216829"/>
                  <a:pt x="0" y="2942992"/>
                </a:quadBezTo>
                <a:lnTo>
                  <a:pt x="0" y="273837"/>
                </a:lnTo>
                <a:quadBezTo>
                  <a:pt x="0" y="0"/>
                  <a:pt x="216394" y="0"/>
                </a:quadBezTo>
                <a:close/>
              </a:path>
            </a:pathLst>
          </a:custGeom>
          <a:solidFill>
            <a:srgbClr val="5196FF">
              <a:alpha val="0"/>
            </a:srgbClr>
          </a:solidFill>
          <a:ln w="19050">
            <a:solidFill>
              <a:srgbClr val="3D4D83"/>
            </a:solidFill>
            <a:prstDash val="solid"/>
          </a:ln>
        </p:spPr>
      </p:sp>
      <p:sp>
        <p:nvSpPr>
          <p:cNvPr id="8" name="Shape 6"/>
          <p:cNvSpPr/>
          <p:nvPr/>
        </p:nvSpPr>
        <p:spPr>
          <a:xfrm>
            <a:off x="3386341" y="1306224"/>
            <a:ext cx="2450592" cy="3216829"/>
          </a:xfrm>
          <a:custGeom>
            <a:avLst/>
            <a:gdLst/>
            <a:ahLst/>
            <a:cxnLst/>
            <a:rect l="l" t="t" r="r" b="b"/>
            <a:pathLst>
              <a:path w="2450592" h="3216829">
                <a:moveTo>
                  <a:pt x="216394" y="0"/>
                </a:moveTo>
                <a:moveTo>
                  <a:pt x="216394" y="0"/>
                </a:moveTo>
                <a:lnTo>
                  <a:pt x="2234198" y="0"/>
                </a:lnTo>
                <a:quadBezTo>
                  <a:pt x="2450592" y="0"/>
                  <a:pt x="2450592" y="273837"/>
                </a:quadBezTo>
                <a:lnTo>
                  <a:pt x="2450592" y="2942992"/>
                </a:lnTo>
                <a:quadBezTo>
                  <a:pt x="2450592" y="3216829"/>
                  <a:pt x="2234198" y="3216829"/>
                </a:quadBezTo>
                <a:lnTo>
                  <a:pt x="216394" y="3216829"/>
                </a:lnTo>
                <a:quadBezTo>
                  <a:pt x="0" y="3216829"/>
                  <a:pt x="0" y="2942992"/>
                </a:quadBezTo>
                <a:lnTo>
                  <a:pt x="0" y="273837"/>
                </a:lnTo>
                <a:quadBezTo>
                  <a:pt x="0" y="0"/>
                  <a:pt x="216394" y="0"/>
                </a:quadBezTo>
                <a:close/>
              </a:path>
            </a:pathLst>
          </a:custGeom>
          <a:solidFill>
            <a:srgbClr val="A2E5B9">
              <a:alpha val="0"/>
            </a:srgbClr>
          </a:solidFill>
          <a:ln w="19050">
            <a:solidFill>
              <a:srgbClr val="3D4D83"/>
            </a:solidFill>
            <a:prstDash val="solid"/>
          </a:ln>
        </p:spPr>
      </p:sp>
      <p:sp>
        <p:nvSpPr>
          <p:cNvPr id="9" name="Shape 7"/>
          <p:cNvSpPr/>
          <p:nvPr/>
        </p:nvSpPr>
        <p:spPr>
          <a:xfrm>
            <a:off x="3623632" y="1089587"/>
            <a:ext cx="512064" cy="512064"/>
          </a:xfrm>
          <a:custGeom>
            <a:avLst/>
            <a:gdLst/>
            <a:ahLst/>
            <a:cxnLst/>
            <a:rect l="l" t="t" r="r" b="b"/>
            <a:pathLst>
              <a:path w="512064" h="512064">
                <a:moveTo>
                  <a:pt x="256032" y="0"/>
                </a:moveTo>
                <a:moveTo>
                  <a:pt x="256032" y="0"/>
                </a:moveTo>
                <a:cubicBezTo>
                  <a:pt x="397340" y="0"/>
                  <a:pt x="512064" y="114724"/>
                  <a:pt x="512064" y="256032"/>
                </a:cubicBezTo>
                <a:cubicBezTo>
                  <a:pt x="512064" y="397340"/>
                  <a:pt x="397340" y="512064"/>
                  <a:pt x="256032" y="512064"/>
                </a:cubicBezTo>
                <a:cubicBezTo>
                  <a:pt x="114724" y="512064"/>
                  <a:pt x="0" y="397340"/>
                  <a:pt x="0" y="256032"/>
                </a:cubicBezTo>
                <a:cubicBezTo>
                  <a:pt x="0" y="114724"/>
                  <a:pt x="114724" y="0"/>
                  <a:pt x="256032" y="0"/>
                </a:cubicBezTo>
                <a:close/>
              </a:path>
            </a:pathLst>
          </a:custGeom>
          <a:solidFill>
            <a:srgbClr val="0084FF"/>
          </a:solidFill>
          <a:ln/>
        </p:spPr>
      </p:sp>
      <p:sp>
        <p:nvSpPr>
          <p:cNvPr id="10" name="Text 8"/>
          <p:cNvSpPr/>
          <p:nvPr/>
        </p:nvSpPr>
        <p:spPr>
          <a:xfrm>
            <a:off x="3472790" y="1062155"/>
            <a:ext cx="813748"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11" name="Shape 9"/>
          <p:cNvSpPr/>
          <p:nvPr/>
        </p:nvSpPr>
        <p:spPr>
          <a:xfrm rot="-366000">
            <a:off x="6245571" y="1323028"/>
            <a:ext cx="2450592" cy="3217797"/>
          </a:xfrm>
          <a:custGeom>
            <a:avLst/>
            <a:gdLst/>
            <a:ahLst/>
            <a:cxnLst/>
            <a:rect l="l" t="t" r="r" b="b"/>
            <a:pathLst>
              <a:path w="2450592" h="3217797">
                <a:moveTo>
                  <a:pt x="216394" y="0"/>
                </a:moveTo>
                <a:moveTo>
                  <a:pt x="216394" y="0"/>
                </a:moveTo>
                <a:lnTo>
                  <a:pt x="2234198" y="0"/>
                </a:lnTo>
                <a:quadBezTo>
                  <a:pt x="2450592" y="0"/>
                  <a:pt x="2450592" y="273919"/>
                </a:quadBezTo>
                <a:lnTo>
                  <a:pt x="2450592" y="2943877"/>
                </a:lnTo>
                <a:quadBezTo>
                  <a:pt x="2450592" y="3217797"/>
                  <a:pt x="2234198" y="3217797"/>
                </a:quadBezTo>
                <a:lnTo>
                  <a:pt x="216394" y="3217797"/>
                </a:lnTo>
                <a:quadBezTo>
                  <a:pt x="0" y="3217797"/>
                  <a:pt x="0" y="2943877"/>
                </a:quadBezTo>
                <a:lnTo>
                  <a:pt x="0" y="273919"/>
                </a:lnTo>
                <a:quadBezTo>
                  <a:pt x="0" y="0"/>
                  <a:pt x="216394" y="0"/>
                </a:quadBezTo>
                <a:close/>
              </a:path>
            </a:pathLst>
          </a:custGeom>
          <a:solidFill>
            <a:srgbClr val="0084FF">
              <a:alpha val="0"/>
            </a:srgbClr>
          </a:solidFill>
          <a:ln w="19050">
            <a:solidFill>
              <a:srgbClr val="3D4D83"/>
            </a:solidFill>
            <a:prstDash val="solid"/>
          </a:ln>
        </p:spPr>
      </p:sp>
      <p:sp>
        <p:nvSpPr>
          <p:cNvPr id="12" name="Shape 10"/>
          <p:cNvSpPr/>
          <p:nvPr/>
        </p:nvSpPr>
        <p:spPr>
          <a:xfrm>
            <a:off x="6285208" y="1305735"/>
            <a:ext cx="2450592" cy="3217797"/>
          </a:xfrm>
          <a:custGeom>
            <a:avLst/>
            <a:gdLst/>
            <a:ahLst/>
            <a:cxnLst/>
            <a:rect l="l" t="t" r="r" b="b"/>
            <a:pathLst>
              <a:path w="2450592" h="3217797">
                <a:moveTo>
                  <a:pt x="216394" y="0"/>
                </a:moveTo>
                <a:moveTo>
                  <a:pt x="216394" y="0"/>
                </a:moveTo>
                <a:lnTo>
                  <a:pt x="2234198" y="0"/>
                </a:lnTo>
                <a:quadBezTo>
                  <a:pt x="2450592" y="0"/>
                  <a:pt x="2450592" y="273919"/>
                </a:quadBezTo>
                <a:lnTo>
                  <a:pt x="2450592" y="2943877"/>
                </a:lnTo>
                <a:quadBezTo>
                  <a:pt x="2450592" y="3217797"/>
                  <a:pt x="2234198" y="3217797"/>
                </a:quadBezTo>
                <a:lnTo>
                  <a:pt x="216394" y="3217797"/>
                </a:lnTo>
                <a:quadBezTo>
                  <a:pt x="0" y="3217797"/>
                  <a:pt x="0" y="2943877"/>
                </a:quadBezTo>
                <a:lnTo>
                  <a:pt x="0" y="273919"/>
                </a:lnTo>
                <a:quadBezTo>
                  <a:pt x="0" y="0"/>
                  <a:pt x="216394" y="0"/>
                </a:quadBezTo>
                <a:close/>
              </a:path>
            </a:pathLst>
          </a:custGeom>
          <a:solidFill>
            <a:srgbClr val="A2E5B9">
              <a:alpha val="0"/>
            </a:srgbClr>
          </a:solidFill>
          <a:ln w="19050">
            <a:solidFill>
              <a:srgbClr val="3D4D83"/>
            </a:solidFill>
            <a:prstDash val="solid"/>
          </a:ln>
        </p:spPr>
      </p:sp>
      <p:sp>
        <p:nvSpPr>
          <p:cNvPr id="13" name="Shape 11"/>
          <p:cNvSpPr/>
          <p:nvPr/>
        </p:nvSpPr>
        <p:spPr>
          <a:xfrm>
            <a:off x="6522499" y="1089587"/>
            <a:ext cx="512064" cy="512064"/>
          </a:xfrm>
          <a:custGeom>
            <a:avLst/>
            <a:gdLst/>
            <a:ahLst/>
            <a:cxnLst/>
            <a:rect l="l" t="t" r="r" b="b"/>
            <a:pathLst>
              <a:path w="512064" h="512064">
                <a:moveTo>
                  <a:pt x="256032" y="0"/>
                </a:moveTo>
                <a:moveTo>
                  <a:pt x="256032" y="0"/>
                </a:moveTo>
                <a:cubicBezTo>
                  <a:pt x="397340" y="0"/>
                  <a:pt x="512064" y="114724"/>
                  <a:pt x="512064" y="256032"/>
                </a:cubicBezTo>
                <a:cubicBezTo>
                  <a:pt x="512064" y="397340"/>
                  <a:pt x="397340" y="512064"/>
                  <a:pt x="256032" y="512064"/>
                </a:cubicBezTo>
                <a:cubicBezTo>
                  <a:pt x="114724" y="512064"/>
                  <a:pt x="0" y="397340"/>
                  <a:pt x="0" y="256032"/>
                </a:cubicBezTo>
                <a:cubicBezTo>
                  <a:pt x="0" y="114724"/>
                  <a:pt x="114724" y="0"/>
                  <a:pt x="256032" y="0"/>
                </a:cubicBezTo>
                <a:close/>
              </a:path>
            </a:pathLst>
          </a:custGeom>
          <a:solidFill>
            <a:srgbClr val="0084FF"/>
          </a:solidFill>
          <a:ln/>
        </p:spPr>
      </p:sp>
      <p:sp>
        <p:nvSpPr>
          <p:cNvPr id="14" name="Text 12"/>
          <p:cNvSpPr/>
          <p:nvPr/>
        </p:nvSpPr>
        <p:spPr>
          <a:xfrm>
            <a:off x="6362513" y="1057583"/>
            <a:ext cx="813748"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15" name="Text 13"/>
          <p:cNvSpPr/>
          <p:nvPr/>
        </p:nvSpPr>
        <p:spPr>
          <a:xfrm>
            <a:off x="533194" y="1795142"/>
            <a:ext cx="2322576" cy="393192"/>
          </a:xfrm>
          <a:prstGeom prst="rect">
            <a:avLst/>
          </a:prstGeom>
          <a:noFill/>
          <a:ln/>
        </p:spPr>
        <p:txBody>
          <a:bodyPr wrap="square" lIns="95250" tIns="95250" rIns="95250" bIns="95250" rtlCol="0" anchor="ctr"/>
          <a:lstStyle/>
          <a:p>
            <a:pPr marL="0" indent="0" algn="ctr">
              <a:lnSpc>
                <a:spcPct val="100000"/>
              </a:lnSpc>
              <a:buNone/>
            </a:pPr>
            <a:r>
              <a:rPr lang="en-US" sz="1584" b="1" dirty="0">
                <a:solidFill>
                  <a:srgbClr val="3D4D83"/>
                </a:solidFill>
                <a:latin typeface="Noto Sans" pitchFamily="34" charset="0"/>
                <a:ea typeface="Noto Sans" pitchFamily="34" charset="-122"/>
                <a:cs typeface="Noto Sans" pitchFamily="34" charset="-120"/>
              </a:rPr>
              <a:t>前台功能模块概述</a:t>
            </a:r>
            <a:endParaRPr lang="en-US" sz="1440" dirty="0"/>
          </a:p>
        </p:txBody>
      </p:sp>
      <p:sp>
        <p:nvSpPr>
          <p:cNvPr id="16" name="Text 14"/>
          <p:cNvSpPr/>
          <p:nvPr/>
        </p:nvSpPr>
        <p:spPr>
          <a:xfrm>
            <a:off x="661210" y="2308965"/>
            <a:ext cx="2194560" cy="1207008"/>
          </a:xfrm>
          <a:prstGeom prst="rect">
            <a:avLst/>
          </a:prstGeom>
          <a:noFill/>
          <a:ln/>
        </p:spPr>
        <p:txBody>
          <a:bodyPr wrap="square" lIns="95250" tIns="95250" rIns="95250" bIns="95250" rtlCol="0" anchor="t">
            <a:spAutoFit/>
          </a:bodyPr>
          <a:lstStyle/>
          <a:p>
            <a:pPr marL="0" indent="0">
              <a:lnSpc>
                <a:spcPct val="100800"/>
              </a:lnSpc>
              <a:spcBef>
                <a:spcPts val="375"/>
              </a:spcBef>
              <a:buNone/>
            </a:pPr>
            <a:r>
              <a:rPr lang="en-US" sz="1152" dirty="0">
                <a:solidFill>
                  <a:srgbClr val="000000"/>
                </a:solidFill>
                <a:latin typeface="Noto Sans" pitchFamily="34" charset="0"/>
                <a:ea typeface="Noto Sans" pitchFamily="34" charset="-122"/>
                <a:cs typeface="Noto Sans" pitchFamily="34" charset="-120"/>
              </a:rPr>
              <a:t>前台功能模块是电子商务平台面向用户的界面，包括用户注册与登录、商品浏览与搜索、购物车管理、订单处理以及个人信息管理等关键功能，旨在提供便捷、直观的用户体验。</a:t>
            </a:r>
            <a:endParaRPr lang="en-US" sz="1440" dirty="0"/>
          </a:p>
        </p:txBody>
      </p:sp>
      <p:sp>
        <p:nvSpPr>
          <p:cNvPr id="17" name="Text 15"/>
          <p:cNvSpPr/>
          <p:nvPr/>
        </p:nvSpPr>
        <p:spPr>
          <a:xfrm>
            <a:off x="3386341" y="1795142"/>
            <a:ext cx="2322576" cy="393192"/>
          </a:xfrm>
          <a:prstGeom prst="rect">
            <a:avLst/>
          </a:prstGeom>
          <a:noFill/>
          <a:ln/>
        </p:spPr>
        <p:txBody>
          <a:bodyPr wrap="square" lIns="95250" tIns="95250" rIns="95250" bIns="95250" rtlCol="0" anchor="ctr"/>
          <a:lstStyle/>
          <a:p>
            <a:pPr marL="0" indent="0" algn="ctr">
              <a:lnSpc>
                <a:spcPct val="100000"/>
              </a:lnSpc>
              <a:buNone/>
            </a:pPr>
            <a:r>
              <a:rPr lang="en-US" sz="1584" b="1" dirty="0">
                <a:solidFill>
                  <a:srgbClr val="3D4D83"/>
                </a:solidFill>
                <a:latin typeface="Noto Sans" pitchFamily="34" charset="0"/>
                <a:ea typeface="Noto Sans" pitchFamily="34" charset="-122"/>
                <a:cs typeface="Noto Sans" pitchFamily="34" charset="-120"/>
              </a:rPr>
              <a:t>后台功能模块详解</a:t>
            </a:r>
            <a:endParaRPr lang="en-US" sz="1440" dirty="0"/>
          </a:p>
        </p:txBody>
      </p:sp>
      <p:sp>
        <p:nvSpPr>
          <p:cNvPr id="18" name="Text 16"/>
          <p:cNvSpPr/>
          <p:nvPr/>
        </p:nvSpPr>
        <p:spPr>
          <a:xfrm>
            <a:off x="3514357" y="2308965"/>
            <a:ext cx="2194560" cy="1207008"/>
          </a:xfrm>
          <a:prstGeom prst="rect">
            <a:avLst/>
          </a:prstGeom>
          <a:noFill/>
          <a:ln/>
        </p:spPr>
        <p:txBody>
          <a:bodyPr wrap="square" lIns="95250" tIns="95250" rIns="95250" bIns="95250" rtlCol="0" anchor="t">
            <a:spAutoFit/>
          </a:bodyPr>
          <a:lstStyle/>
          <a:p>
            <a:pPr marL="0" indent="0">
              <a:lnSpc>
                <a:spcPct val="100800"/>
              </a:lnSpc>
              <a:spcBef>
                <a:spcPts val="375"/>
              </a:spcBef>
              <a:buNone/>
            </a:pPr>
            <a:r>
              <a:rPr lang="en-US" sz="1152" dirty="0">
                <a:solidFill>
                  <a:srgbClr val="000000"/>
                </a:solidFill>
                <a:latin typeface="Noto Sans" pitchFamily="34" charset="0"/>
                <a:ea typeface="Noto Sans" pitchFamily="34" charset="-122"/>
                <a:cs typeface="Noto Sans" pitchFamily="34" charset="-120"/>
              </a:rPr>
              <a:t>后台功能模块为管理员提供了强大的管理工具，涵盖管理员登录、用户管理、商品管理、订单管理和系统设置等功能，确保电子商务平台的高效运营和数据安全。</a:t>
            </a:r>
            <a:endParaRPr lang="en-US" sz="1440" dirty="0"/>
          </a:p>
        </p:txBody>
      </p:sp>
      <p:sp>
        <p:nvSpPr>
          <p:cNvPr id="19" name="Text 17"/>
          <p:cNvSpPr/>
          <p:nvPr/>
        </p:nvSpPr>
        <p:spPr>
          <a:xfrm>
            <a:off x="6285208" y="1795142"/>
            <a:ext cx="2322576" cy="393192"/>
          </a:xfrm>
          <a:prstGeom prst="rect">
            <a:avLst/>
          </a:prstGeom>
          <a:noFill/>
          <a:ln/>
        </p:spPr>
        <p:txBody>
          <a:bodyPr wrap="square" lIns="95250" tIns="95250" rIns="95250" bIns="95250" rtlCol="0" anchor="ctr"/>
          <a:lstStyle/>
          <a:p>
            <a:pPr marL="0" indent="0" algn="ctr">
              <a:lnSpc>
                <a:spcPct val="100000"/>
              </a:lnSpc>
              <a:buNone/>
            </a:pPr>
            <a:r>
              <a:rPr lang="en-US" sz="1584" b="1" dirty="0">
                <a:solidFill>
                  <a:srgbClr val="3D4D83"/>
                </a:solidFill>
                <a:latin typeface="Noto Sans" pitchFamily="34" charset="0"/>
                <a:ea typeface="Noto Sans" pitchFamily="34" charset="-122"/>
                <a:cs typeface="Noto Sans" pitchFamily="34" charset="-120"/>
              </a:rPr>
              <a:t>功能模块协同作用</a:t>
            </a:r>
            <a:endParaRPr lang="en-US" sz="1440" dirty="0"/>
          </a:p>
        </p:txBody>
      </p:sp>
      <p:sp>
        <p:nvSpPr>
          <p:cNvPr id="20" name="Text 18"/>
          <p:cNvSpPr/>
          <p:nvPr/>
        </p:nvSpPr>
        <p:spPr>
          <a:xfrm>
            <a:off x="6413224" y="2308965"/>
            <a:ext cx="2194560" cy="1207008"/>
          </a:xfrm>
          <a:prstGeom prst="rect">
            <a:avLst/>
          </a:prstGeom>
          <a:noFill/>
          <a:ln/>
        </p:spPr>
        <p:txBody>
          <a:bodyPr wrap="square" lIns="95250" tIns="95250" rIns="95250" bIns="95250" rtlCol="0" anchor="t">
            <a:spAutoFit/>
          </a:bodyPr>
          <a:lstStyle/>
          <a:p>
            <a:pPr marL="0" indent="0">
              <a:lnSpc>
                <a:spcPct val="100800"/>
              </a:lnSpc>
              <a:spcBef>
                <a:spcPts val="375"/>
              </a:spcBef>
              <a:buNone/>
            </a:pPr>
            <a:r>
              <a:rPr lang="en-US" sz="1152" dirty="0">
                <a:solidFill>
                  <a:srgbClr val="000000"/>
                </a:solidFill>
                <a:latin typeface="Noto Sans" pitchFamily="34" charset="0"/>
                <a:ea typeface="Noto Sans" pitchFamily="34" charset="-122"/>
                <a:cs typeface="Noto Sans" pitchFamily="34" charset="-120"/>
              </a:rPr>
              <a:t>前台和后台功能模块相互配合，共同构成了完整的电子商务平台生态系统。前台提供用户友好的购物体验，后台则支持高效的商品和订单管理，两者协同工作，提升整体服务质量。</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16287" y="1025211"/>
            <a:ext cx="1085027" cy="731520"/>
          </a:xfrm>
          <a:prstGeom prst="rect">
            <a:avLst/>
          </a:prstGeom>
          <a:noFill/>
          <a:ln/>
        </p:spPr>
        <p:txBody>
          <a:bodyPr wrap="square" lIns="95250" tIns="95250" rIns="95250" bIns="95250" rtlCol="0" anchor="t"/>
          <a:lstStyle/>
          <a:p>
            <a:pPr marL="0" indent="0" algn="ctr">
              <a:lnSpc>
                <a:spcPct val="100000"/>
              </a:lnSpc>
              <a:spcBef>
                <a:spcPts val="375"/>
              </a:spcBef>
              <a:buNone/>
            </a:pPr>
            <a:r>
              <a:rPr lang="en-US" sz="4320" b="1" dirty="0">
                <a:solidFill>
                  <a:srgbClr val="2E3E74"/>
                </a:solidFill>
                <a:latin typeface="Microsoft Yahei" pitchFamily="34" charset="0"/>
                <a:ea typeface="Microsoft Yahei" pitchFamily="34" charset="-122"/>
                <a:cs typeface="Microsoft Yahei" pitchFamily="34" charset="-120"/>
              </a:rPr>
              <a:t>02</a:t>
            </a:r>
            <a:endParaRPr lang="en-US" sz="1440" dirty="0"/>
          </a:p>
        </p:txBody>
      </p:sp>
      <p:sp>
        <p:nvSpPr>
          <p:cNvPr id="3" name="Text 1"/>
          <p:cNvSpPr/>
          <p:nvPr/>
        </p:nvSpPr>
        <p:spPr>
          <a:xfrm>
            <a:off x="395202" y="2205990"/>
            <a:ext cx="8342856" cy="731520"/>
          </a:xfrm>
          <a:prstGeom prst="rect">
            <a:avLst/>
          </a:prstGeom>
          <a:noFill/>
          <a:ln/>
        </p:spPr>
        <p:txBody>
          <a:bodyPr wrap="square" lIns="95250" tIns="95250" rIns="95250" bIns="95250" rtlCol="0" anchor="t"/>
          <a:lstStyle/>
          <a:p>
            <a:pPr marL="0" indent="0" algn="ctr">
              <a:lnSpc>
                <a:spcPct val="112500"/>
              </a:lnSpc>
              <a:spcBef>
                <a:spcPts val="375"/>
              </a:spcBef>
              <a:buNone/>
            </a:pPr>
            <a:r>
              <a:rPr lang="en-US" sz="2880" b="1" dirty="0">
                <a:solidFill>
                  <a:srgbClr val="3D4D83"/>
                </a:solidFill>
                <a:latin typeface="Microsoft Yahei" pitchFamily="34" charset="0"/>
                <a:ea typeface="Microsoft Yahei" pitchFamily="34" charset="-122"/>
                <a:cs typeface="Microsoft Yahei" pitchFamily="34" charset="-120"/>
              </a:rPr>
              <a:t>系统设计与实现</a:t>
            </a:r>
            <a:endParaRPr lang="en-US" sz="14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lstStyle/>
          <a:p>
            <a:pPr marL="0" indent="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需求分析</a:t>
            </a:r>
            <a:endParaRPr lang="en-US" sz="1440" dirty="0"/>
          </a:p>
        </p:txBody>
      </p:sp>
      <p:sp>
        <p:nvSpPr>
          <p:cNvPr id="3" name="Shape 1"/>
          <p:cNvSpPr/>
          <p:nvPr/>
        </p:nvSpPr>
        <p:spPr>
          <a:xfrm>
            <a:off x="484290" y="1162360"/>
            <a:ext cx="497463" cy="497463"/>
          </a:xfrm>
          <a:custGeom>
            <a:avLst/>
            <a:gdLst/>
            <a:ahLst/>
            <a:cxnLst/>
            <a:rect l="l" t="t" r="r" b="b"/>
            <a:pathLst>
              <a:path w="497463" h="497463">
                <a:moveTo>
                  <a:pt x="248731" y="0"/>
                </a:moveTo>
                <a:moveTo>
                  <a:pt x="248731" y="0"/>
                </a:moveTo>
                <a:cubicBezTo>
                  <a:pt x="386010" y="0"/>
                  <a:pt x="497463" y="111453"/>
                  <a:pt x="497463" y="248731"/>
                </a:cubicBezTo>
                <a:cubicBezTo>
                  <a:pt x="497463" y="386010"/>
                  <a:pt x="386010" y="497463"/>
                  <a:pt x="248731" y="497463"/>
                </a:cubicBezTo>
                <a:cubicBezTo>
                  <a:pt x="111453" y="497463"/>
                  <a:pt x="0" y="386010"/>
                  <a:pt x="0" y="248731"/>
                </a:cubicBezTo>
                <a:cubicBezTo>
                  <a:pt x="0" y="111453"/>
                  <a:pt x="111453" y="0"/>
                  <a:pt x="248731" y="0"/>
                </a:cubicBezTo>
                <a:close/>
              </a:path>
            </a:pathLst>
          </a:custGeom>
          <a:solidFill>
            <a:srgbClr val="0084FF"/>
          </a:solidFill>
          <a:ln/>
        </p:spPr>
      </p:sp>
      <p:sp>
        <p:nvSpPr>
          <p:cNvPr id="4" name="Text 2"/>
          <p:cNvSpPr/>
          <p:nvPr/>
        </p:nvSpPr>
        <p:spPr>
          <a:xfrm>
            <a:off x="398611" y="1197539"/>
            <a:ext cx="647465" cy="402336"/>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1728" b="1" dirty="0">
                <a:solidFill>
                  <a:srgbClr val="FFFFFF"/>
                </a:solidFill>
                <a:latin typeface="Noto Sans" pitchFamily="34" charset="0"/>
                <a:ea typeface="Noto Sans" pitchFamily="34" charset="-122"/>
                <a:cs typeface="Noto Sans" pitchFamily="34" charset="-120"/>
              </a:rPr>
              <a:t>01</a:t>
            </a:r>
            <a:endParaRPr lang="en-US" sz="1440" dirty="0"/>
          </a:p>
        </p:txBody>
      </p:sp>
      <p:sp>
        <p:nvSpPr>
          <p:cNvPr id="5" name="Shape 3"/>
          <p:cNvSpPr/>
          <p:nvPr/>
        </p:nvSpPr>
        <p:spPr>
          <a:xfrm>
            <a:off x="3444645" y="1162166"/>
            <a:ext cx="497463" cy="497463"/>
          </a:xfrm>
          <a:custGeom>
            <a:avLst/>
            <a:gdLst/>
            <a:ahLst/>
            <a:cxnLst/>
            <a:rect l="l" t="t" r="r" b="b"/>
            <a:pathLst>
              <a:path w="497463" h="497463">
                <a:moveTo>
                  <a:pt x="248731" y="0"/>
                </a:moveTo>
                <a:moveTo>
                  <a:pt x="248731" y="0"/>
                </a:moveTo>
                <a:cubicBezTo>
                  <a:pt x="386010" y="0"/>
                  <a:pt x="497463" y="111453"/>
                  <a:pt x="497463" y="248731"/>
                </a:cubicBezTo>
                <a:cubicBezTo>
                  <a:pt x="497463" y="386010"/>
                  <a:pt x="386010" y="497463"/>
                  <a:pt x="248731" y="497463"/>
                </a:cubicBezTo>
                <a:cubicBezTo>
                  <a:pt x="111453" y="497463"/>
                  <a:pt x="0" y="386010"/>
                  <a:pt x="0" y="248731"/>
                </a:cubicBezTo>
                <a:cubicBezTo>
                  <a:pt x="0" y="111453"/>
                  <a:pt x="111453" y="0"/>
                  <a:pt x="248731" y="0"/>
                </a:cubicBezTo>
                <a:close/>
              </a:path>
            </a:pathLst>
          </a:custGeom>
          <a:solidFill>
            <a:srgbClr val="0084FF"/>
          </a:solidFill>
          <a:ln/>
        </p:spPr>
      </p:sp>
      <p:sp>
        <p:nvSpPr>
          <p:cNvPr id="6" name="Text 4"/>
          <p:cNvSpPr/>
          <p:nvPr/>
        </p:nvSpPr>
        <p:spPr>
          <a:xfrm>
            <a:off x="3380579" y="1197345"/>
            <a:ext cx="604356" cy="402336"/>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1728" b="1" dirty="0">
                <a:solidFill>
                  <a:srgbClr val="FFFFFF"/>
                </a:solidFill>
                <a:latin typeface="Noto Sans" pitchFamily="34" charset="0"/>
                <a:ea typeface="Noto Sans" pitchFamily="34" charset="-122"/>
                <a:cs typeface="Noto Sans" pitchFamily="34" charset="-120"/>
              </a:rPr>
              <a:t>02</a:t>
            </a:r>
            <a:endParaRPr lang="en-US" sz="1440" dirty="0"/>
          </a:p>
        </p:txBody>
      </p:sp>
      <p:sp>
        <p:nvSpPr>
          <p:cNvPr id="7" name="Shape 5"/>
          <p:cNvSpPr/>
          <p:nvPr/>
        </p:nvSpPr>
        <p:spPr>
          <a:xfrm>
            <a:off x="6363877" y="1156511"/>
            <a:ext cx="497463" cy="497463"/>
          </a:xfrm>
          <a:custGeom>
            <a:avLst/>
            <a:gdLst/>
            <a:ahLst/>
            <a:cxnLst/>
            <a:rect l="l" t="t" r="r" b="b"/>
            <a:pathLst>
              <a:path w="497463" h="497463">
                <a:moveTo>
                  <a:pt x="248731" y="0"/>
                </a:moveTo>
                <a:moveTo>
                  <a:pt x="248731" y="0"/>
                </a:moveTo>
                <a:cubicBezTo>
                  <a:pt x="386010" y="0"/>
                  <a:pt x="497463" y="111453"/>
                  <a:pt x="497463" y="248731"/>
                </a:cubicBezTo>
                <a:cubicBezTo>
                  <a:pt x="497463" y="386010"/>
                  <a:pt x="386010" y="497463"/>
                  <a:pt x="248731" y="497463"/>
                </a:cubicBezTo>
                <a:cubicBezTo>
                  <a:pt x="111453" y="497463"/>
                  <a:pt x="0" y="386010"/>
                  <a:pt x="0" y="248731"/>
                </a:cubicBezTo>
                <a:cubicBezTo>
                  <a:pt x="0" y="111453"/>
                  <a:pt x="111453" y="0"/>
                  <a:pt x="248731" y="0"/>
                </a:cubicBezTo>
                <a:close/>
              </a:path>
            </a:pathLst>
          </a:custGeom>
          <a:solidFill>
            <a:srgbClr val="0084FF"/>
          </a:solidFill>
          <a:ln/>
        </p:spPr>
      </p:sp>
      <p:sp>
        <p:nvSpPr>
          <p:cNvPr id="8" name="Text 6"/>
          <p:cNvSpPr/>
          <p:nvPr/>
        </p:nvSpPr>
        <p:spPr>
          <a:xfrm>
            <a:off x="6331844" y="1191690"/>
            <a:ext cx="560370" cy="402336"/>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1728" b="1" dirty="0">
                <a:solidFill>
                  <a:srgbClr val="FFFFFF"/>
                </a:solidFill>
                <a:latin typeface="Noto Sans" pitchFamily="34" charset="0"/>
                <a:ea typeface="Noto Sans" pitchFamily="34" charset="-122"/>
                <a:cs typeface="Noto Sans" pitchFamily="34" charset="-120"/>
              </a:rPr>
              <a:t>03</a:t>
            </a:r>
            <a:endParaRPr lang="en-US" sz="1440" dirty="0"/>
          </a:p>
        </p:txBody>
      </p:sp>
      <p:sp>
        <p:nvSpPr>
          <p:cNvPr id="9" name="Text 7"/>
          <p:cNvSpPr/>
          <p:nvPr/>
        </p:nvSpPr>
        <p:spPr>
          <a:xfrm>
            <a:off x="343626" y="1797234"/>
            <a:ext cx="2548433" cy="393192"/>
          </a:xfrm>
          <a:prstGeom prst="rect">
            <a:avLst/>
          </a:prstGeom>
          <a:noFill/>
          <a:ln/>
        </p:spPr>
        <p:txBody>
          <a:bodyPr wrap="square" lIns="95250" tIns="95250" rIns="95250" bIns="95250" rtlCol="0" anchor="t"/>
          <a:lstStyle/>
          <a:p>
            <a:pPr marL="0" indent="0">
              <a:lnSpc>
                <a:spcPct val="100000"/>
              </a:lnSpc>
              <a:spcBef>
                <a:spcPts val="375"/>
              </a:spcBef>
              <a:buNone/>
            </a:pPr>
            <a:r>
              <a:rPr lang="en-US" sz="1584" b="1" dirty="0">
                <a:solidFill>
                  <a:srgbClr val="3D4D83"/>
                </a:solidFill>
                <a:latin typeface="Noto Sans" pitchFamily="34" charset="0"/>
                <a:ea typeface="Noto Sans" pitchFamily="34" charset="-122"/>
                <a:cs typeface="Noto Sans" pitchFamily="34" charset="-120"/>
              </a:rPr>
              <a:t>用户至上原则</a:t>
            </a:r>
            <a:endParaRPr lang="en-US" sz="1440" dirty="0"/>
          </a:p>
        </p:txBody>
      </p:sp>
      <p:sp>
        <p:nvSpPr>
          <p:cNvPr id="10" name="Text 8"/>
          <p:cNvSpPr/>
          <p:nvPr/>
        </p:nvSpPr>
        <p:spPr>
          <a:xfrm>
            <a:off x="343182" y="2501361"/>
            <a:ext cx="2548433" cy="1876349"/>
          </a:xfrm>
          <a:prstGeom prst="rect">
            <a:avLst/>
          </a:prstGeom>
          <a:noFill/>
          <a:ln/>
        </p:spPr>
        <p:txBody>
          <a:bodyPr wrap="square" lIns="95250" tIns="95250" rIns="95250" bIns="95250" rtlCol="0" anchor="t"/>
          <a:lstStyle/>
          <a:p>
            <a:pPr marL="0" indent="0">
              <a:lnSpc>
                <a:spcPct val="100800"/>
              </a:lnSpc>
              <a:spcBef>
                <a:spcPts val="375"/>
              </a:spcBef>
              <a:buNone/>
            </a:pPr>
            <a:r>
              <a:rPr lang="en-US" sz="1152" dirty="0">
                <a:solidFill>
                  <a:srgbClr val="000000"/>
                </a:solidFill>
                <a:latin typeface="Noto Sans" pitchFamily="34" charset="0"/>
                <a:ea typeface="Noto Sans" pitchFamily="34" charset="-122"/>
                <a:cs typeface="Noto Sans" pitchFamily="34" charset="-120"/>
              </a:rPr>
              <a:t>在需求分析中，用户至上原则是核心，确保所有设计和功能迭代都围绕用户需求进行，以实现高效、稳定且易于使用的系统。</a:t>
            </a:r>
            <a:endParaRPr lang="en-US" sz="1440" dirty="0"/>
          </a:p>
        </p:txBody>
      </p:sp>
      <p:sp>
        <p:nvSpPr>
          <p:cNvPr id="11" name="Text 9"/>
          <p:cNvSpPr/>
          <p:nvPr/>
        </p:nvSpPr>
        <p:spPr>
          <a:xfrm>
            <a:off x="3297619" y="1797234"/>
            <a:ext cx="2548433" cy="393192"/>
          </a:xfrm>
          <a:prstGeom prst="rect">
            <a:avLst/>
          </a:prstGeom>
          <a:noFill/>
          <a:ln/>
        </p:spPr>
        <p:txBody>
          <a:bodyPr wrap="square" lIns="95250" tIns="95250" rIns="95250" bIns="95250" rtlCol="0" anchor="t"/>
          <a:lstStyle/>
          <a:p>
            <a:pPr marL="0" indent="0">
              <a:lnSpc>
                <a:spcPct val="100000"/>
              </a:lnSpc>
              <a:spcBef>
                <a:spcPts val="375"/>
              </a:spcBef>
              <a:buNone/>
            </a:pPr>
            <a:r>
              <a:rPr lang="en-US" sz="1584" b="1" dirty="0">
                <a:solidFill>
                  <a:srgbClr val="3D4D83"/>
                </a:solidFill>
                <a:latin typeface="Noto Sans" pitchFamily="34" charset="0"/>
                <a:ea typeface="Noto Sans" pitchFamily="34" charset="-122"/>
                <a:cs typeface="Noto Sans" pitchFamily="34" charset="-120"/>
              </a:rPr>
              <a:t>系统架构设计</a:t>
            </a:r>
            <a:endParaRPr lang="en-US" sz="1440" dirty="0"/>
          </a:p>
        </p:txBody>
      </p:sp>
      <p:sp>
        <p:nvSpPr>
          <p:cNvPr id="12" name="Text 10"/>
          <p:cNvSpPr/>
          <p:nvPr/>
        </p:nvSpPr>
        <p:spPr>
          <a:xfrm>
            <a:off x="3298109" y="2501194"/>
            <a:ext cx="2548502" cy="1876682"/>
          </a:xfrm>
          <a:prstGeom prst="rect">
            <a:avLst/>
          </a:prstGeom>
          <a:noFill/>
          <a:ln/>
        </p:spPr>
        <p:txBody>
          <a:bodyPr wrap="square" lIns="95250" tIns="95250" rIns="95250" bIns="95250" rtlCol="0" anchor="t"/>
          <a:lstStyle/>
          <a:p>
            <a:pPr marL="0" indent="0">
              <a:lnSpc>
                <a:spcPct val="100800"/>
              </a:lnSpc>
              <a:spcBef>
                <a:spcPts val="375"/>
              </a:spcBef>
              <a:buNone/>
            </a:pPr>
            <a:r>
              <a:rPr lang="en-US" sz="1152" dirty="0">
                <a:solidFill>
                  <a:srgbClr val="000000"/>
                </a:solidFill>
                <a:latin typeface="Noto Sans" pitchFamily="34" charset="0"/>
                <a:ea typeface="Noto Sans" pitchFamily="34" charset="-122"/>
                <a:cs typeface="Noto Sans" pitchFamily="34" charset="-120"/>
              </a:rPr>
              <a:t>系统架构设计关注于构建一个稳固的基础，通过精心规划的系统结构来保证运行速度和稳定性，满足长期业务发展需求。</a:t>
            </a:r>
            <a:endParaRPr lang="en-US" sz="1440" dirty="0"/>
          </a:p>
        </p:txBody>
      </p:sp>
      <p:sp>
        <p:nvSpPr>
          <p:cNvPr id="13" name="Text 11"/>
          <p:cNvSpPr/>
          <p:nvPr/>
        </p:nvSpPr>
        <p:spPr>
          <a:xfrm>
            <a:off x="6252170" y="1797234"/>
            <a:ext cx="2548433" cy="393192"/>
          </a:xfrm>
          <a:prstGeom prst="rect">
            <a:avLst/>
          </a:prstGeom>
          <a:noFill/>
          <a:ln/>
        </p:spPr>
        <p:txBody>
          <a:bodyPr wrap="square" lIns="95250" tIns="95250" rIns="95250" bIns="95250" rtlCol="0" anchor="t"/>
          <a:lstStyle/>
          <a:p>
            <a:pPr marL="0" indent="0">
              <a:lnSpc>
                <a:spcPct val="100000"/>
              </a:lnSpc>
              <a:spcBef>
                <a:spcPts val="375"/>
              </a:spcBef>
              <a:buNone/>
            </a:pPr>
            <a:r>
              <a:rPr lang="en-US" sz="1584" b="1" dirty="0">
                <a:solidFill>
                  <a:srgbClr val="3D4D83"/>
                </a:solidFill>
                <a:latin typeface="Noto Sans" pitchFamily="34" charset="0"/>
                <a:ea typeface="Noto Sans" pitchFamily="34" charset="-122"/>
                <a:cs typeface="Noto Sans" pitchFamily="34" charset="-120"/>
              </a:rPr>
              <a:t>技术选型与可行性分析</a:t>
            </a:r>
            <a:endParaRPr lang="en-US" sz="1440" dirty="0"/>
          </a:p>
        </p:txBody>
      </p:sp>
      <p:sp>
        <p:nvSpPr>
          <p:cNvPr id="14" name="Text 12"/>
          <p:cNvSpPr/>
          <p:nvPr/>
        </p:nvSpPr>
        <p:spPr>
          <a:xfrm>
            <a:off x="6252385" y="2487168"/>
            <a:ext cx="2548433" cy="1895551"/>
          </a:xfrm>
          <a:prstGeom prst="rect">
            <a:avLst/>
          </a:prstGeom>
          <a:noFill/>
          <a:ln/>
        </p:spPr>
        <p:txBody>
          <a:bodyPr wrap="square" lIns="95250" tIns="95250" rIns="95250" bIns="95250" rtlCol="0" anchor="t"/>
          <a:lstStyle/>
          <a:p>
            <a:pPr marL="0" indent="0">
              <a:lnSpc>
                <a:spcPct val="100800"/>
              </a:lnSpc>
              <a:spcBef>
                <a:spcPts val="375"/>
              </a:spcBef>
              <a:buNone/>
            </a:pPr>
            <a:r>
              <a:rPr lang="en-US" sz="1152" dirty="0">
                <a:solidFill>
                  <a:srgbClr val="000000"/>
                </a:solidFill>
                <a:latin typeface="Noto Sans" pitchFamily="34" charset="0"/>
                <a:ea typeface="Noto Sans" pitchFamily="34" charset="-122"/>
                <a:cs typeface="Noto Sans" pitchFamily="34" charset="-120"/>
              </a:rPr>
              <a:t>选择合适的技术栈（如Java、SSM框架）对系统的高效性和可维护性至关重要，同时从技术、经济和操作角度分析确保项目成功实施。</a:t>
            </a:r>
            <a:endParaRPr lang="en-US" sz="14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lstStyle/>
          <a:p>
            <a:pPr marL="0" indent="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系统设计细节</a:t>
            </a:r>
            <a:endParaRPr lang="en-US" sz="1440" dirty="0"/>
          </a:p>
        </p:txBody>
      </p:sp>
      <p:sp>
        <p:nvSpPr>
          <p:cNvPr id="3" name="Shape 1"/>
          <p:cNvSpPr/>
          <p:nvPr/>
        </p:nvSpPr>
        <p:spPr>
          <a:xfrm rot="2700000">
            <a:off x="4116172" y="2229671"/>
            <a:ext cx="911657" cy="911657"/>
          </a:xfrm>
          <a:custGeom>
            <a:avLst/>
            <a:gdLst/>
            <a:ahLst/>
            <a:cxnLst/>
            <a:rect l="l" t="t" r="r" b="b"/>
            <a:pathLst>
              <a:path w="911657" h="911657">
                <a:moveTo>
                  <a:pt x="158693" y="0"/>
                </a:moveTo>
                <a:moveTo>
                  <a:pt x="158693" y="0"/>
                </a:moveTo>
                <a:lnTo>
                  <a:pt x="752964" y="0"/>
                </a:lnTo>
                <a:quadBezTo>
                  <a:pt x="911657" y="0"/>
                  <a:pt x="911657" y="158693"/>
                </a:quadBezTo>
                <a:lnTo>
                  <a:pt x="911657" y="752964"/>
                </a:lnTo>
                <a:quadBezTo>
                  <a:pt x="911657" y="911657"/>
                  <a:pt x="752964" y="911657"/>
                </a:quadBezTo>
                <a:lnTo>
                  <a:pt x="158693" y="911657"/>
                </a:lnTo>
                <a:quadBezTo>
                  <a:pt x="0" y="911657"/>
                  <a:pt x="0" y="752964"/>
                </a:quadBezTo>
                <a:lnTo>
                  <a:pt x="0" y="158693"/>
                </a:lnTo>
                <a:quadBezTo>
                  <a:pt x="0" y="0"/>
                  <a:pt x="158693" y="0"/>
                </a:quadBezTo>
                <a:close/>
              </a:path>
            </a:pathLst>
          </a:custGeom>
          <a:solidFill>
            <a:srgbClr val="5196FF"/>
          </a:solidFill>
          <a:ln/>
        </p:spPr>
      </p:sp>
      <p:sp>
        <p:nvSpPr>
          <p:cNvPr id="4" name="Shape 2"/>
          <p:cNvSpPr/>
          <p:nvPr/>
        </p:nvSpPr>
        <p:spPr>
          <a:xfrm rot="2700000">
            <a:off x="3321091" y="2992149"/>
            <a:ext cx="911657" cy="911657"/>
          </a:xfrm>
          <a:custGeom>
            <a:avLst/>
            <a:gdLst/>
            <a:ahLst/>
            <a:cxnLst/>
            <a:rect l="l" t="t" r="r" b="b"/>
            <a:pathLst>
              <a:path w="911657" h="911657">
                <a:moveTo>
                  <a:pt x="158693" y="0"/>
                </a:moveTo>
                <a:moveTo>
                  <a:pt x="158693" y="0"/>
                </a:moveTo>
                <a:lnTo>
                  <a:pt x="752964" y="0"/>
                </a:lnTo>
                <a:quadBezTo>
                  <a:pt x="911657" y="0"/>
                  <a:pt x="911657" y="158693"/>
                </a:quadBezTo>
                <a:lnTo>
                  <a:pt x="911657" y="752964"/>
                </a:lnTo>
                <a:quadBezTo>
                  <a:pt x="911657" y="911657"/>
                  <a:pt x="752964" y="911657"/>
                </a:quadBezTo>
                <a:lnTo>
                  <a:pt x="158693" y="911657"/>
                </a:lnTo>
                <a:quadBezTo>
                  <a:pt x="0" y="911657"/>
                  <a:pt x="0" y="752964"/>
                </a:quadBezTo>
                <a:lnTo>
                  <a:pt x="0" y="158693"/>
                </a:lnTo>
                <a:quadBezTo>
                  <a:pt x="0" y="0"/>
                  <a:pt x="158693" y="0"/>
                </a:quadBezTo>
                <a:close/>
              </a:path>
            </a:pathLst>
          </a:custGeom>
          <a:solidFill>
            <a:srgbClr val="0084FF"/>
          </a:solidFill>
          <a:ln/>
        </p:spPr>
      </p:sp>
      <p:sp>
        <p:nvSpPr>
          <p:cNvPr id="5" name="Shape 3"/>
          <p:cNvSpPr/>
          <p:nvPr/>
        </p:nvSpPr>
        <p:spPr>
          <a:xfrm rot="2700000">
            <a:off x="4911252" y="2992149"/>
            <a:ext cx="911657" cy="911657"/>
          </a:xfrm>
          <a:custGeom>
            <a:avLst/>
            <a:gdLst/>
            <a:ahLst/>
            <a:cxnLst/>
            <a:rect l="l" t="t" r="r" b="b"/>
            <a:pathLst>
              <a:path w="911657" h="911657">
                <a:moveTo>
                  <a:pt x="158693" y="0"/>
                </a:moveTo>
                <a:moveTo>
                  <a:pt x="158693" y="0"/>
                </a:moveTo>
                <a:lnTo>
                  <a:pt x="752964" y="0"/>
                </a:lnTo>
                <a:quadBezTo>
                  <a:pt x="911657" y="0"/>
                  <a:pt x="911657" y="158693"/>
                </a:quadBezTo>
                <a:lnTo>
                  <a:pt x="911657" y="752964"/>
                </a:lnTo>
                <a:quadBezTo>
                  <a:pt x="911657" y="911657"/>
                  <a:pt x="752964" y="911657"/>
                </a:quadBezTo>
                <a:lnTo>
                  <a:pt x="158693" y="911657"/>
                </a:lnTo>
                <a:quadBezTo>
                  <a:pt x="0" y="911657"/>
                  <a:pt x="0" y="752964"/>
                </a:quadBezTo>
                <a:lnTo>
                  <a:pt x="0" y="158693"/>
                </a:lnTo>
                <a:quadBezTo>
                  <a:pt x="0" y="0"/>
                  <a:pt x="158693" y="0"/>
                </a:quadBezTo>
                <a:close/>
              </a:path>
            </a:pathLst>
          </a:custGeom>
          <a:solidFill>
            <a:srgbClr val="0084FF"/>
          </a:solidFill>
          <a:ln/>
        </p:spPr>
      </p:sp>
      <p:pic>
        <p:nvPicPr>
          <p:cNvPr id="6" name="Image 0" descr="preencoded.png"/>
          <p:cNvPicPr>
            <a:picLocks noChangeAspect="1"/>
          </p:cNvPicPr>
          <p:nvPr/>
        </p:nvPicPr>
        <p:blipFill>
          <a:blip r:embed="rId4"/>
          <a:stretch>
            <a:fillRect/>
          </a:stretch>
        </p:blipFill>
        <p:spPr>
          <a:xfrm>
            <a:off x="3576666" y="3247723"/>
            <a:ext cx="400507" cy="400507"/>
          </a:xfrm>
          <a:prstGeom prst="rect">
            <a:avLst/>
          </a:prstGeom>
        </p:spPr>
      </p:pic>
      <p:pic>
        <p:nvPicPr>
          <p:cNvPr id="7" name="Image 1" descr="preencoded.png"/>
          <p:cNvPicPr>
            <a:picLocks noChangeAspect="1"/>
          </p:cNvPicPr>
          <p:nvPr/>
        </p:nvPicPr>
        <p:blipFill>
          <a:blip r:embed="rId5"/>
          <a:stretch>
            <a:fillRect/>
          </a:stretch>
        </p:blipFill>
        <p:spPr>
          <a:xfrm>
            <a:off x="4347972" y="2461472"/>
            <a:ext cx="448056" cy="448056"/>
          </a:xfrm>
          <a:prstGeom prst="rect">
            <a:avLst/>
          </a:prstGeom>
        </p:spPr>
      </p:pic>
      <p:pic>
        <p:nvPicPr>
          <p:cNvPr id="8" name="Image 2" descr="preencoded.png"/>
          <p:cNvPicPr>
            <a:picLocks noChangeAspect="1"/>
          </p:cNvPicPr>
          <p:nvPr/>
        </p:nvPicPr>
        <p:blipFill>
          <a:blip r:embed="rId6"/>
          <a:stretch>
            <a:fillRect/>
          </a:stretch>
        </p:blipFill>
        <p:spPr>
          <a:xfrm>
            <a:off x="5195071" y="3275968"/>
            <a:ext cx="344018" cy="344018"/>
          </a:xfrm>
          <a:prstGeom prst="rect">
            <a:avLst/>
          </a:prstGeom>
        </p:spPr>
      </p:pic>
      <p:sp>
        <p:nvSpPr>
          <p:cNvPr id="9" name="Text 4"/>
          <p:cNvSpPr/>
          <p:nvPr/>
        </p:nvSpPr>
        <p:spPr>
          <a:xfrm>
            <a:off x="226675" y="2727592"/>
            <a:ext cx="2712236" cy="374904"/>
          </a:xfrm>
          <a:prstGeom prst="rect">
            <a:avLst/>
          </a:prstGeom>
          <a:noFill/>
          <a:ln/>
        </p:spPr>
        <p:txBody>
          <a:bodyPr wrap="square" lIns="95250" tIns="95250" rIns="95250" bIns="95250" rtlCol="0" anchor="b"/>
          <a:lstStyle/>
          <a:p>
            <a:pPr marL="0" indent="0" algn="r">
              <a:lnSpc>
                <a:spcPct val="100000"/>
              </a:lnSpc>
              <a:spcBef>
                <a:spcPts val="375"/>
              </a:spcBef>
              <a:buNone/>
            </a:pPr>
            <a:r>
              <a:rPr lang="en-US" sz="1584" b="1" dirty="0">
                <a:solidFill>
                  <a:srgbClr val="000000"/>
                </a:solidFill>
                <a:latin typeface="Noto Sans" pitchFamily="34" charset="0"/>
                <a:ea typeface="Noto Sans" pitchFamily="34" charset="-122"/>
                <a:cs typeface="Noto Sans" pitchFamily="34" charset="-120"/>
              </a:rPr>
              <a:t>技术框架选型</a:t>
            </a:r>
            <a:endParaRPr lang="en-US" sz="1440" dirty="0"/>
          </a:p>
        </p:txBody>
      </p:sp>
      <p:sp>
        <p:nvSpPr>
          <p:cNvPr id="10" name="Text 5"/>
          <p:cNvSpPr/>
          <p:nvPr/>
        </p:nvSpPr>
        <p:spPr>
          <a:xfrm>
            <a:off x="226675" y="3070933"/>
            <a:ext cx="2712236" cy="813816"/>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系统后端采用SSM框架，前端使用Vue.js构建用户界面，数据库选用MySQL进行数据存储与管理，开发环境为Tomcat 7.0，使用IDEA作为集成开发环境。</a:t>
            </a:r>
            <a:endParaRPr lang="en-US" sz="1440" dirty="0"/>
          </a:p>
        </p:txBody>
      </p:sp>
      <p:sp>
        <p:nvSpPr>
          <p:cNvPr id="11" name="Text 6"/>
          <p:cNvSpPr/>
          <p:nvPr/>
        </p:nvSpPr>
        <p:spPr>
          <a:xfrm>
            <a:off x="2079889" y="980555"/>
            <a:ext cx="4990549" cy="374904"/>
          </a:xfrm>
          <a:prstGeom prst="rect">
            <a:avLst/>
          </a:prstGeom>
          <a:noFill/>
          <a:ln/>
        </p:spPr>
        <p:txBody>
          <a:bodyPr wrap="square" lIns="95250" tIns="95250" rIns="95250" bIns="95250" rtlCol="0" anchor="b"/>
          <a:lstStyle/>
          <a:p>
            <a:pPr marL="0" indent="0" algn="ctr">
              <a:lnSpc>
                <a:spcPct val="100000"/>
              </a:lnSpc>
              <a:spcBef>
                <a:spcPts val="375"/>
              </a:spcBef>
              <a:buNone/>
            </a:pPr>
            <a:r>
              <a:rPr lang="en-US" sz="1584" b="1" dirty="0">
                <a:solidFill>
                  <a:srgbClr val="000000"/>
                </a:solidFill>
                <a:latin typeface="Noto Sans" pitchFamily="34" charset="0"/>
                <a:ea typeface="Noto Sans" pitchFamily="34" charset="-122"/>
                <a:cs typeface="Noto Sans" pitchFamily="34" charset="-120"/>
              </a:rPr>
              <a:t>功能模块设计</a:t>
            </a:r>
            <a:endParaRPr lang="en-US" sz="1440" dirty="0"/>
          </a:p>
        </p:txBody>
      </p:sp>
      <p:sp>
        <p:nvSpPr>
          <p:cNvPr id="12" name="Text 7"/>
          <p:cNvSpPr/>
          <p:nvPr/>
        </p:nvSpPr>
        <p:spPr>
          <a:xfrm>
            <a:off x="2079889" y="1273163"/>
            <a:ext cx="4990549" cy="603504"/>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系统包含用户、商家和管理员三个主要角色，每个角色都有各自的功能模块，如用户可注册登录、浏览商品等；商家可管理店铺、上传商品等；管理员负责系统管理。</a:t>
            </a:r>
            <a:endParaRPr lang="en-US" sz="1440" dirty="0"/>
          </a:p>
        </p:txBody>
      </p:sp>
      <p:sp>
        <p:nvSpPr>
          <p:cNvPr id="13" name="Text 8"/>
          <p:cNvSpPr/>
          <p:nvPr/>
        </p:nvSpPr>
        <p:spPr>
          <a:xfrm>
            <a:off x="6144294" y="2727592"/>
            <a:ext cx="2773031" cy="374904"/>
          </a:xfrm>
          <a:prstGeom prst="rect">
            <a:avLst/>
          </a:prstGeom>
          <a:noFill/>
          <a:ln/>
        </p:spPr>
        <p:txBody>
          <a:bodyPr wrap="square" lIns="95250" tIns="95250" rIns="95250" bIns="95250" rtlCol="0" anchor="b"/>
          <a:lstStyle/>
          <a:p>
            <a:pPr marL="0" indent="0">
              <a:lnSpc>
                <a:spcPct val="100000"/>
              </a:lnSpc>
              <a:spcBef>
                <a:spcPts val="375"/>
              </a:spcBef>
              <a:buNone/>
            </a:pPr>
            <a:r>
              <a:rPr lang="en-US" sz="1584" b="1" dirty="0">
                <a:solidFill>
                  <a:srgbClr val="000000"/>
                </a:solidFill>
                <a:latin typeface="Noto Sans" pitchFamily="34" charset="0"/>
                <a:ea typeface="Noto Sans" pitchFamily="34" charset="-122"/>
                <a:cs typeface="Noto Sans" pitchFamily="34" charset="-120"/>
              </a:rPr>
              <a:t>系统流程优化</a:t>
            </a:r>
            <a:endParaRPr lang="en-US" sz="1440" dirty="0"/>
          </a:p>
        </p:txBody>
      </p:sp>
      <p:sp>
        <p:nvSpPr>
          <p:cNvPr id="14" name="Text 9"/>
          <p:cNvSpPr/>
          <p:nvPr/>
        </p:nvSpPr>
        <p:spPr>
          <a:xfrm>
            <a:off x="6154913" y="3070933"/>
            <a:ext cx="2762412" cy="813816"/>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用户通过浏览器访问系统，进行操作请求，系统接收请求后进行处理，处理完成后生成反馈并通过用户界面呈现给用户，整个过程注重数据的精确性和系统的响应时间。</a:t>
            </a:r>
            <a:endParaRPr lang="en-US" sz="14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16287" y="1025211"/>
            <a:ext cx="1085027" cy="731520"/>
          </a:xfrm>
          <a:prstGeom prst="rect">
            <a:avLst/>
          </a:prstGeom>
          <a:noFill/>
          <a:ln/>
        </p:spPr>
        <p:txBody>
          <a:bodyPr wrap="square" lIns="95250" tIns="95250" rIns="95250" bIns="95250" rtlCol="0" anchor="t"/>
          <a:lstStyle/>
          <a:p>
            <a:pPr marL="0" indent="0" algn="ctr">
              <a:lnSpc>
                <a:spcPct val="100000"/>
              </a:lnSpc>
              <a:spcBef>
                <a:spcPts val="375"/>
              </a:spcBef>
              <a:buNone/>
            </a:pPr>
            <a:r>
              <a:rPr lang="en-US" sz="4320" b="1" dirty="0">
                <a:solidFill>
                  <a:srgbClr val="2E3E74"/>
                </a:solidFill>
                <a:latin typeface="Microsoft Yahei" pitchFamily="34" charset="0"/>
                <a:ea typeface="Microsoft Yahei" pitchFamily="34" charset="-122"/>
                <a:cs typeface="Microsoft Yahei" pitchFamily="34" charset="-120"/>
              </a:rPr>
              <a:t>03</a:t>
            </a:r>
            <a:endParaRPr lang="en-US" sz="1440" dirty="0"/>
          </a:p>
        </p:txBody>
      </p:sp>
      <p:sp>
        <p:nvSpPr>
          <p:cNvPr id="3" name="Text 1"/>
          <p:cNvSpPr/>
          <p:nvPr/>
        </p:nvSpPr>
        <p:spPr>
          <a:xfrm>
            <a:off x="395202" y="2205990"/>
            <a:ext cx="8342856" cy="731520"/>
          </a:xfrm>
          <a:prstGeom prst="rect">
            <a:avLst/>
          </a:prstGeom>
          <a:noFill/>
          <a:ln/>
        </p:spPr>
        <p:txBody>
          <a:bodyPr wrap="square" lIns="95250" tIns="95250" rIns="95250" bIns="95250" rtlCol="0" anchor="t"/>
          <a:lstStyle/>
          <a:p>
            <a:pPr marL="0" indent="0" algn="ctr">
              <a:lnSpc>
                <a:spcPct val="112500"/>
              </a:lnSpc>
              <a:spcBef>
                <a:spcPts val="375"/>
              </a:spcBef>
              <a:buNone/>
            </a:pPr>
            <a:r>
              <a:rPr lang="en-US" sz="2880" b="1" dirty="0">
                <a:solidFill>
                  <a:srgbClr val="3D4D83"/>
                </a:solidFill>
                <a:latin typeface="Microsoft Yahei" pitchFamily="34" charset="0"/>
                <a:ea typeface="Microsoft Yahei" pitchFamily="34" charset="-122"/>
                <a:cs typeface="Microsoft Yahei" pitchFamily="34" charset="-120"/>
              </a:rPr>
              <a:t>数据库设计</a:t>
            </a:r>
            <a:endParaRPr lang="en-US" sz="14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lstStyle/>
          <a:p>
            <a:pPr marL="0" indent="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表结构概览</a:t>
            </a:r>
            <a:endParaRPr lang="en-US" sz="1440" dirty="0"/>
          </a:p>
        </p:txBody>
      </p:sp>
      <p:pic>
        <p:nvPicPr>
          <p:cNvPr id="3" name="Image 0" descr="https://sgw-dx.xf-yun.com/api/v1/sparkdesk/_17439250816953c1e69f1ec104f888a4a5b49699d9bfe.jpg?authorization=c2ltcGxlLWp3dCBhaz1zcGFya2Rlc2s4MDAwMDAwMDAwMDE7ZXhwPTMzMjA3MjUwODE7YWxnbz1obWFjLXNoYTI1NjtzaWc9bUpmY04wNjR1anI0V0ZNUkw1NVlrbXVTVmJwNGtXT0FSeStYVGU4b0d4ST0=&amp;x_location=7YfmxI7B7uKO7jlRxIftd6UoeLD="/>
          <p:cNvPicPr>
            <a:picLocks noChangeAspect="1"/>
          </p:cNvPicPr>
          <p:nvPr/>
        </p:nvPicPr>
        <p:blipFill>
          <a:blip r:embed="rId4"/>
          <a:srcRect/>
          <a:stretch/>
        </p:blipFill>
        <p:spPr>
          <a:xfrm flipH="1">
            <a:off x="272721" y="1295117"/>
            <a:ext cx="3341028" cy="3341028"/>
          </a:xfrm>
          <a:prstGeom prst="rect">
            <a:avLst/>
          </a:prstGeom>
        </p:spPr>
      </p:pic>
      <p:sp>
        <p:nvSpPr>
          <p:cNvPr id="4" name="Shape 1"/>
          <p:cNvSpPr/>
          <p:nvPr/>
        </p:nvSpPr>
        <p:spPr>
          <a:xfrm>
            <a:off x="3161753" y="1043279"/>
            <a:ext cx="5709526" cy="1090281"/>
          </a:xfrm>
          <a:custGeom>
            <a:avLst/>
            <a:gdLst/>
            <a:ahLst/>
            <a:cxnLst/>
            <a:rect l="l" t="t" r="r" b="b"/>
            <a:pathLst>
              <a:path w="5709526" h="1090281">
                <a:moveTo>
                  <a:pt x="0" y="1090281"/>
                </a:moveTo>
                <a:moveTo>
                  <a:pt x="0" y="1090281"/>
                </a:moveTo>
                <a:lnTo>
                  <a:pt x="0" y="0"/>
                </a:lnTo>
                <a:lnTo>
                  <a:pt x="5491469" y="0"/>
                </a:lnTo>
                <a:lnTo>
                  <a:pt x="5709526" y="218056"/>
                </a:lnTo>
                <a:lnTo>
                  <a:pt x="5709526" y="1090281"/>
                </a:lnTo>
                <a:close/>
              </a:path>
            </a:pathLst>
          </a:custGeom>
          <a:solidFill>
            <a:srgbClr val="FFFFFF"/>
          </a:solidFill>
          <a:ln w="9525">
            <a:solidFill>
              <a:srgbClr val="3D4D83">
                <a:alpha val="30980"/>
              </a:srgbClr>
            </a:solidFill>
            <a:prstDash val="solid"/>
          </a:ln>
        </p:spPr>
      </p:sp>
      <p:sp>
        <p:nvSpPr>
          <p:cNvPr id="5" name="Shape 2"/>
          <p:cNvSpPr/>
          <p:nvPr/>
        </p:nvSpPr>
        <p:spPr>
          <a:xfrm>
            <a:off x="3304548" y="1118241"/>
            <a:ext cx="365164" cy="353752"/>
          </a:xfrm>
          <a:custGeom>
            <a:avLst/>
            <a:gdLst/>
            <a:ahLst/>
            <a:cxnLst/>
            <a:rect l="l" t="t" r="r" b="b"/>
            <a:pathLst>
              <a:path w="365164" h="353752">
                <a:moveTo>
                  <a:pt x="182582" y="0"/>
                </a:moveTo>
                <a:moveTo>
                  <a:pt x="182582" y="0"/>
                </a:moveTo>
                <a:cubicBezTo>
                  <a:pt x="283352" y="0"/>
                  <a:pt x="365164" y="79256"/>
                  <a:pt x="365164" y="176876"/>
                </a:cubicBezTo>
                <a:cubicBezTo>
                  <a:pt x="365164" y="274497"/>
                  <a:pt x="283352" y="353752"/>
                  <a:pt x="182582" y="353752"/>
                </a:cubicBezTo>
                <a:cubicBezTo>
                  <a:pt x="81812" y="353752"/>
                  <a:pt x="0" y="274497"/>
                  <a:pt x="0" y="176876"/>
                </a:cubicBezTo>
                <a:cubicBezTo>
                  <a:pt x="0" y="79256"/>
                  <a:pt x="81812" y="0"/>
                  <a:pt x="182582" y="0"/>
                </a:cubicBezTo>
                <a:close/>
              </a:path>
            </a:pathLst>
          </a:custGeom>
          <a:solidFill>
            <a:srgbClr val="0084FF"/>
          </a:solidFill>
          <a:ln/>
        </p:spPr>
      </p:sp>
      <p:pic>
        <p:nvPicPr>
          <p:cNvPr id="6" name="Image 1" descr="preencoded.png"/>
          <p:cNvPicPr>
            <a:picLocks noChangeAspect="1"/>
          </p:cNvPicPr>
          <p:nvPr/>
        </p:nvPicPr>
        <p:blipFill>
          <a:blip r:embed="rId5"/>
          <a:stretch>
            <a:fillRect/>
          </a:stretch>
        </p:blipFill>
        <p:spPr>
          <a:xfrm>
            <a:off x="3397345" y="1211039"/>
            <a:ext cx="188972" cy="190980"/>
          </a:xfrm>
          <a:prstGeom prst="rect">
            <a:avLst/>
          </a:prstGeom>
        </p:spPr>
      </p:pic>
      <p:sp>
        <p:nvSpPr>
          <p:cNvPr id="7" name="Shape 3"/>
          <p:cNvSpPr/>
          <p:nvPr/>
        </p:nvSpPr>
        <p:spPr>
          <a:xfrm>
            <a:off x="2811196" y="2348022"/>
            <a:ext cx="5795609" cy="1090281"/>
          </a:xfrm>
          <a:custGeom>
            <a:avLst/>
            <a:gdLst/>
            <a:ahLst/>
            <a:cxnLst/>
            <a:rect l="l" t="t" r="r" b="b"/>
            <a:pathLst>
              <a:path w="5795609" h="1090281">
                <a:moveTo>
                  <a:pt x="0" y="1090281"/>
                </a:moveTo>
                <a:moveTo>
                  <a:pt x="0" y="1090281"/>
                </a:moveTo>
                <a:lnTo>
                  <a:pt x="0" y="0"/>
                </a:lnTo>
                <a:lnTo>
                  <a:pt x="5577553" y="0"/>
                </a:lnTo>
                <a:lnTo>
                  <a:pt x="5795609" y="218056"/>
                </a:lnTo>
                <a:lnTo>
                  <a:pt x="5795609" y="1090281"/>
                </a:lnTo>
                <a:close/>
              </a:path>
            </a:pathLst>
          </a:custGeom>
          <a:solidFill>
            <a:srgbClr val="FFFFFF"/>
          </a:solidFill>
          <a:ln w="9525">
            <a:solidFill>
              <a:srgbClr val="3D4D83">
                <a:alpha val="30980"/>
              </a:srgbClr>
            </a:solidFill>
            <a:prstDash val="solid"/>
          </a:ln>
        </p:spPr>
      </p:sp>
      <p:sp>
        <p:nvSpPr>
          <p:cNvPr id="8" name="Shape 4"/>
          <p:cNvSpPr/>
          <p:nvPr/>
        </p:nvSpPr>
        <p:spPr>
          <a:xfrm>
            <a:off x="2953990" y="2422984"/>
            <a:ext cx="365164" cy="353752"/>
          </a:xfrm>
          <a:custGeom>
            <a:avLst/>
            <a:gdLst/>
            <a:ahLst/>
            <a:cxnLst/>
            <a:rect l="l" t="t" r="r" b="b"/>
            <a:pathLst>
              <a:path w="365164" h="353752">
                <a:moveTo>
                  <a:pt x="182582" y="0"/>
                </a:moveTo>
                <a:moveTo>
                  <a:pt x="182582" y="0"/>
                </a:moveTo>
                <a:cubicBezTo>
                  <a:pt x="283352" y="0"/>
                  <a:pt x="365164" y="79256"/>
                  <a:pt x="365164" y="176876"/>
                </a:cubicBezTo>
                <a:cubicBezTo>
                  <a:pt x="365164" y="274497"/>
                  <a:pt x="283352" y="353752"/>
                  <a:pt x="182582" y="353752"/>
                </a:cubicBezTo>
                <a:cubicBezTo>
                  <a:pt x="81812" y="353752"/>
                  <a:pt x="0" y="274497"/>
                  <a:pt x="0" y="176876"/>
                </a:cubicBezTo>
                <a:cubicBezTo>
                  <a:pt x="0" y="79256"/>
                  <a:pt x="81812" y="0"/>
                  <a:pt x="182582" y="0"/>
                </a:cubicBezTo>
                <a:close/>
              </a:path>
            </a:pathLst>
          </a:custGeom>
          <a:solidFill>
            <a:srgbClr val="0084FF"/>
          </a:solidFill>
          <a:ln/>
        </p:spPr>
      </p:sp>
      <p:pic>
        <p:nvPicPr>
          <p:cNvPr id="9" name="Image 2" descr="preencoded.png"/>
          <p:cNvPicPr>
            <a:picLocks noChangeAspect="1"/>
          </p:cNvPicPr>
          <p:nvPr/>
        </p:nvPicPr>
        <p:blipFill>
          <a:blip r:embed="rId5"/>
          <a:stretch>
            <a:fillRect/>
          </a:stretch>
        </p:blipFill>
        <p:spPr>
          <a:xfrm>
            <a:off x="3046788" y="2515782"/>
            <a:ext cx="188972" cy="190980"/>
          </a:xfrm>
          <a:prstGeom prst="rect">
            <a:avLst/>
          </a:prstGeom>
        </p:spPr>
      </p:pic>
      <p:sp>
        <p:nvSpPr>
          <p:cNvPr id="10" name="Shape 5"/>
          <p:cNvSpPr/>
          <p:nvPr/>
        </p:nvSpPr>
        <p:spPr>
          <a:xfrm>
            <a:off x="3161753" y="3652765"/>
            <a:ext cx="5709526" cy="1090281"/>
          </a:xfrm>
          <a:custGeom>
            <a:avLst/>
            <a:gdLst/>
            <a:ahLst/>
            <a:cxnLst/>
            <a:rect l="l" t="t" r="r" b="b"/>
            <a:pathLst>
              <a:path w="5709526" h="1090281">
                <a:moveTo>
                  <a:pt x="0" y="1090281"/>
                </a:moveTo>
                <a:moveTo>
                  <a:pt x="0" y="1090281"/>
                </a:moveTo>
                <a:lnTo>
                  <a:pt x="0" y="0"/>
                </a:lnTo>
                <a:lnTo>
                  <a:pt x="5491469" y="0"/>
                </a:lnTo>
                <a:lnTo>
                  <a:pt x="5709526" y="218056"/>
                </a:lnTo>
                <a:lnTo>
                  <a:pt x="5709526" y="1090281"/>
                </a:lnTo>
                <a:close/>
              </a:path>
            </a:pathLst>
          </a:custGeom>
          <a:solidFill>
            <a:srgbClr val="FFFFFF"/>
          </a:solidFill>
          <a:ln w="9525">
            <a:solidFill>
              <a:srgbClr val="3D4D83">
                <a:alpha val="30980"/>
              </a:srgbClr>
            </a:solidFill>
            <a:prstDash val="solid"/>
          </a:ln>
        </p:spPr>
      </p:sp>
      <p:sp>
        <p:nvSpPr>
          <p:cNvPr id="11" name="Shape 6"/>
          <p:cNvSpPr/>
          <p:nvPr/>
        </p:nvSpPr>
        <p:spPr>
          <a:xfrm>
            <a:off x="3285650" y="3727728"/>
            <a:ext cx="365164" cy="353752"/>
          </a:xfrm>
          <a:custGeom>
            <a:avLst/>
            <a:gdLst/>
            <a:ahLst/>
            <a:cxnLst/>
            <a:rect l="l" t="t" r="r" b="b"/>
            <a:pathLst>
              <a:path w="365164" h="353752">
                <a:moveTo>
                  <a:pt x="182582" y="0"/>
                </a:moveTo>
                <a:moveTo>
                  <a:pt x="182582" y="0"/>
                </a:moveTo>
                <a:cubicBezTo>
                  <a:pt x="283352" y="0"/>
                  <a:pt x="365164" y="79256"/>
                  <a:pt x="365164" y="176876"/>
                </a:cubicBezTo>
                <a:cubicBezTo>
                  <a:pt x="365164" y="274497"/>
                  <a:pt x="283352" y="353752"/>
                  <a:pt x="182582" y="353752"/>
                </a:cubicBezTo>
                <a:cubicBezTo>
                  <a:pt x="81812" y="353752"/>
                  <a:pt x="0" y="274497"/>
                  <a:pt x="0" y="176876"/>
                </a:cubicBezTo>
                <a:cubicBezTo>
                  <a:pt x="0" y="79256"/>
                  <a:pt x="81812" y="0"/>
                  <a:pt x="182582" y="0"/>
                </a:cubicBezTo>
                <a:close/>
              </a:path>
            </a:pathLst>
          </a:custGeom>
          <a:solidFill>
            <a:srgbClr val="0084FF"/>
          </a:solidFill>
          <a:ln/>
        </p:spPr>
      </p:sp>
      <p:pic>
        <p:nvPicPr>
          <p:cNvPr id="12" name="Image 3" descr="preencoded.png"/>
          <p:cNvPicPr>
            <a:picLocks noChangeAspect="1"/>
          </p:cNvPicPr>
          <p:nvPr/>
        </p:nvPicPr>
        <p:blipFill>
          <a:blip r:embed="rId5"/>
          <a:stretch>
            <a:fillRect/>
          </a:stretch>
        </p:blipFill>
        <p:spPr>
          <a:xfrm>
            <a:off x="3378448" y="3820525"/>
            <a:ext cx="188972" cy="190980"/>
          </a:xfrm>
          <a:prstGeom prst="rect">
            <a:avLst/>
          </a:prstGeom>
        </p:spPr>
      </p:pic>
      <p:sp>
        <p:nvSpPr>
          <p:cNvPr id="13" name="Text 7"/>
          <p:cNvSpPr/>
          <p:nvPr/>
        </p:nvSpPr>
        <p:spPr>
          <a:xfrm>
            <a:off x="3735181" y="1118241"/>
            <a:ext cx="4911136" cy="359047"/>
          </a:xfrm>
          <a:prstGeom prst="rect">
            <a:avLst/>
          </a:prstGeom>
          <a:noFill/>
          <a:ln/>
        </p:spPr>
        <p:txBody>
          <a:bodyPr wrap="square" lIns="95250" tIns="95250" rIns="95250" bIns="95250" rtlCol="0" anchor="ctr"/>
          <a:lstStyle/>
          <a:p>
            <a:pPr marL="0" indent="0">
              <a:lnSpc>
                <a:spcPct val="100000"/>
              </a:lnSpc>
              <a:spcBef>
                <a:spcPts val="375"/>
              </a:spcBef>
              <a:buNone/>
            </a:pPr>
            <a:r>
              <a:rPr lang="en-US" sz="1584" b="1" dirty="0">
                <a:solidFill>
                  <a:srgbClr val="3D4D83"/>
                </a:solidFill>
                <a:latin typeface="Noto Sans" pitchFamily="34" charset="0"/>
                <a:ea typeface="Noto Sans" pitchFamily="34" charset="-122"/>
                <a:cs typeface="Noto Sans" pitchFamily="34" charset="-120"/>
              </a:rPr>
              <a:t>用户信息表设计</a:t>
            </a:r>
            <a:endParaRPr lang="en-US" sz="1440" dirty="0"/>
          </a:p>
        </p:txBody>
      </p:sp>
      <p:sp>
        <p:nvSpPr>
          <p:cNvPr id="14" name="Text 8"/>
          <p:cNvSpPr/>
          <p:nvPr/>
        </p:nvSpPr>
        <p:spPr>
          <a:xfrm>
            <a:off x="3312941" y="1424841"/>
            <a:ext cx="5459228" cy="60350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用户信息表存储了用户的基本信息，如用户名、密码、邮箱等，是实现用户注册登录功能的基础，确保用户数据的安全性和完整性。</a:t>
            </a:r>
            <a:endParaRPr lang="en-US" sz="1440" dirty="0"/>
          </a:p>
        </p:txBody>
      </p:sp>
      <p:sp>
        <p:nvSpPr>
          <p:cNvPr id="15" name="Text 9"/>
          <p:cNvSpPr/>
          <p:nvPr/>
        </p:nvSpPr>
        <p:spPr>
          <a:xfrm>
            <a:off x="3397345" y="2422984"/>
            <a:ext cx="4881554" cy="359047"/>
          </a:xfrm>
          <a:prstGeom prst="rect">
            <a:avLst/>
          </a:prstGeom>
          <a:noFill/>
          <a:ln/>
        </p:spPr>
        <p:txBody>
          <a:bodyPr wrap="square" lIns="95250" tIns="95250" rIns="95250" bIns="95250" rtlCol="0" anchor="ctr"/>
          <a:lstStyle/>
          <a:p>
            <a:pPr marL="0" indent="0">
              <a:lnSpc>
                <a:spcPct val="100000"/>
              </a:lnSpc>
              <a:spcBef>
                <a:spcPts val="375"/>
              </a:spcBef>
              <a:buNone/>
            </a:pPr>
            <a:r>
              <a:rPr lang="en-US" sz="1584" b="1" dirty="0">
                <a:solidFill>
                  <a:srgbClr val="3D4D83"/>
                </a:solidFill>
                <a:latin typeface="Noto Sans" pitchFamily="34" charset="0"/>
                <a:ea typeface="Noto Sans" pitchFamily="34" charset="-122"/>
                <a:cs typeface="Noto Sans" pitchFamily="34" charset="-120"/>
              </a:rPr>
              <a:t>商品信息表构建</a:t>
            </a:r>
            <a:endParaRPr lang="en-US" sz="1440" dirty="0"/>
          </a:p>
        </p:txBody>
      </p:sp>
      <p:sp>
        <p:nvSpPr>
          <p:cNvPr id="16" name="Text 10"/>
          <p:cNvSpPr/>
          <p:nvPr/>
        </p:nvSpPr>
        <p:spPr>
          <a:xfrm>
            <a:off x="2893424" y="2729585"/>
            <a:ext cx="5484398" cy="60350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商品信息表详细记录了商品的各类属性，包括商品名称、价格、库存量等，为商品浏览购买功能提供数据支持，保证交易的准确性。</a:t>
            </a:r>
            <a:endParaRPr lang="en-US" sz="1440" dirty="0"/>
          </a:p>
        </p:txBody>
      </p:sp>
      <p:sp>
        <p:nvSpPr>
          <p:cNvPr id="17" name="Text 11"/>
          <p:cNvSpPr/>
          <p:nvPr/>
        </p:nvSpPr>
        <p:spPr>
          <a:xfrm>
            <a:off x="3735181" y="3727728"/>
            <a:ext cx="4911136" cy="359047"/>
          </a:xfrm>
          <a:prstGeom prst="rect">
            <a:avLst/>
          </a:prstGeom>
          <a:noFill/>
          <a:ln/>
        </p:spPr>
        <p:txBody>
          <a:bodyPr wrap="square" lIns="95250" tIns="95250" rIns="95250" bIns="95250" rtlCol="0" anchor="ctr"/>
          <a:lstStyle/>
          <a:p>
            <a:pPr marL="0" indent="0">
              <a:lnSpc>
                <a:spcPct val="100000"/>
              </a:lnSpc>
              <a:spcBef>
                <a:spcPts val="375"/>
              </a:spcBef>
              <a:buNone/>
            </a:pPr>
            <a:r>
              <a:rPr lang="en-US" sz="1584" b="1" dirty="0">
                <a:solidFill>
                  <a:srgbClr val="3D4D83"/>
                </a:solidFill>
                <a:latin typeface="Noto Sans" pitchFamily="34" charset="0"/>
                <a:ea typeface="Noto Sans" pitchFamily="34" charset="-122"/>
                <a:cs typeface="Noto Sans" pitchFamily="34" charset="-120"/>
              </a:rPr>
              <a:t>订单明细表规划</a:t>
            </a:r>
            <a:endParaRPr lang="en-US" sz="1440" dirty="0"/>
          </a:p>
        </p:txBody>
      </p:sp>
      <p:sp>
        <p:nvSpPr>
          <p:cNvPr id="18" name="Text 12"/>
          <p:cNvSpPr/>
          <p:nvPr/>
        </p:nvSpPr>
        <p:spPr>
          <a:xfrm>
            <a:off x="3266233" y="4034328"/>
            <a:ext cx="5505936" cy="60350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订单明细表用于追踪每一笔交易的详细信息，如购买时间、数量、总价等，对商家店铺管理和系统管理功能的实现至关重要。</a:t>
            </a:r>
            <a:endParaRPr lang="en-US" sz="14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lstStyle/>
          <a:p>
            <a:pPr marL="0" indent="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关键数据表说明</a:t>
            </a:r>
            <a:endParaRPr lang="en-US" sz="1440" dirty="0"/>
          </a:p>
        </p:txBody>
      </p:sp>
      <p:sp>
        <p:nvSpPr>
          <p:cNvPr id="3" name="Shape 1"/>
          <p:cNvSpPr/>
          <p:nvPr/>
        </p:nvSpPr>
        <p:spPr>
          <a:xfrm>
            <a:off x="4605633" y="2476271"/>
            <a:ext cx="0" cy="337765"/>
          </a:xfrm>
          <a:custGeom>
            <a:avLst/>
            <a:gdLst/>
            <a:ahLst/>
            <a:cxnLst/>
            <a:rect l="l" t="t" r="r" b="b"/>
            <a:pathLst>
              <a:path h="337765">
                <a:moveTo>
                  <a:pt x="0" y="0"/>
                </a:moveTo>
                <a:moveTo>
                  <a:pt x="0" y="0"/>
                </a:moveTo>
                <a:lnTo>
                  <a:pt x="0" y="337765"/>
                </a:lnTo>
              </a:path>
            </a:pathLst>
          </a:custGeom>
          <a:noFill/>
          <a:ln w="9525">
            <a:solidFill>
              <a:srgbClr val="A0A9B5"/>
            </a:solidFill>
            <a:prstDash val="solid"/>
            <a:headEnd type="none"/>
            <a:tailEnd type="arrow"/>
          </a:ln>
        </p:spPr>
      </p:sp>
      <p:sp>
        <p:nvSpPr>
          <p:cNvPr id="4" name="Shape 2"/>
          <p:cNvSpPr/>
          <p:nvPr/>
        </p:nvSpPr>
        <p:spPr>
          <a:xfrm>
            <a:off x="1277853" y="996893"/>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5196FF"/>
          </a:solidFill>
          <a:ln/>
        </p:spPr>
      </p:sp>
      <p:sp>
        <p:nvSpPr>
          <p:cNvPr id="5" name="Shape 3"/>
          <p:cNvSpPr/>
          <p:nvPr/>
        </p:nvSpPr>
        <p:spPr>
          <a:xfrm>
            <a:off x="4170327" y="2964042"/>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5196FF"/>
          </a:solidFill>
          <a:ln/>
        </p:spPr>
      </p:sp>
      <p:sp>
        <p:nvSpPr>
          <p:cNvPr id="6" name="Shape 4"/>
          <p:cNvSpPr/>
          <p:nvPr/>
        </p:nvSpPr>
        <p:spPr>
          <a:xfrm>
            <a:off x="2526406" y="1416515"/>
            <a:ext cx="1354237" cy="251800"/>
          </a:xfrm>
          <a:custGeom>
            <a:avLst/>
            <a:gdLst/>
            <a:ahLst/>
            <a:cxnLst/>
            <a:rect l="l" t="t" r="r" b="b"/>
            <a:pathLst>
              <a:path w="1354237" h="251800">
                <a:moveTo>
                  <a:pt x="1354237" y="251800"/>
                </a:moveTo>
                <a:moveTo>
                  <a:pt x="1354237" y="251800"/>
                </a:moveTo>
                <a:lnTo>
                  <a:pt x="0" y="0"/>
                </a:lnTo>
              </a:path>
            </a:pathLst>
          </a:custGeom>
          <a:noFill/>
          <a:ln w="9525">
            <a:solidFill>
              <a:srgbClr val="A0A9B5"/>
            </a:solidFill>
            <a:prstDash val="solid"/>
            <a:headEnd type="none"/>
            <a:tailEnd type="arrow"/>
          </a:ln>
        </p:spPr>
      </p:sp>
      <p:sp>
        <p:nvSpPr>
          <p:cNvPr id="7" name="Shape 5"/>
          <p:cNvSpPr/>
          <p:nvPr/>
        </p:nvSpPr>
        <p:spPr>
          <a:xfrm>
            <a:off x="3833940" y="996893"/>
            <a:ext cx="1543386" cy="1543386"/>
          </a:xfrm>
          <a:custGeom>
            <a:avLst/>
            <a:gdLst/>
            <a:ahLst/>
            <a:cxnLst/>
            <a:rect l="l" t="t" r="r" b="b"/>
            <a:pathLst>
              <a:path w="1543386" h="1543386">
                <a:moveTo>
                  <a:pt x="771693" y="0"/>
                </a:moveTo>
                <a:moveTo>
                  <a:pt x="771693" y="0"/>
                </a:moveTo>
                <a:cubicBezTo>
                  <a:pt x="1197602" y="0"/>
                  <a:pt x="1543386" y="345784"/>
                  <a:pt x="1543386" y="771693"/>
                </a:cubicBezTo>
                <a:cubicBezTo>
                  <a:pt x="1543386" y="1197602"/>
                  <a:pt x="1197602" y="1543386"/>
                  <a:pt x="771693" y="1543386"/>
                </a:cubicBezTo>
                <a:cubicBezTo>
                  <a:pt x="345784" y="1543386"/>
                  <a:pt x="0" y="1197602"/>
                  <a:pt x="0" y="771693"/>
                </a:cubicBezTo>
                <a:cubicBezTo>
                  <a:pt x="0" y="345784"/>
                  <a:pt x="345784" y="0"/>
                  <a:pt x="771693" y="0"/>
                </a:cubicBezTo>
                <a:close/>
              </a:path>
            </a:pathLst>
          </a:custGeom>
          <a:solidFill>
            <a:srgbClr val="0084FF"/>
          </a:solidFill>
          <a:ln/>
        </p:spPr>
      </p:sp>
      <p:pic>
        <p:nvPicPr>
          <p:cNvPr id="8" name="Image 0" descr="preencoded.png"/>
          <p:cNvPicPr>
            <a:picLocks noChangeAspect="1"/>
          </p:cNvPicPr>
          <p:nvPr/>
        </p:nvPicPr>
        <p:blipFill>
          <a:blip r:embed="rId4"/>
          <a:stretch>
            <a:fillRect/>
          </a:stretch>
        </p:blipFill>
        <p:spPr>
          <a:xfrm>
            <a:off x="4209273" y="1372227"/>
            <a:ext cx="792719" cy="792719"/>
          </a:xfrm>
          <a:prstGeom prst="rect">
            <a:avLst/>
          </a:prstGeom>
        </p:spPr>
      </p:pic>
      <p:pic>
        <p:nvPicPr>
          <p:cNvPr id="9" name="Image 1" descr="preencoded.png"/>
          <p:cNvPicPr>
            <a:picLocks noChangeAspect="1"/>
          </p:cNvPicPr>
          <p:nvPr/>
        </p:nvPicPr>
        <p:blipFill>
          <a:blip r:embed="rId5"/>
          <a:stretch>
            <a:fillRect/>
          </a:stretch>
        </p:blipFill>
        <p:spPr>
          <a:xfrm>
            <a:off x="4345020" y="3138735"/>
            <a:ext cx="500594" cy="500594"/>
          </a:xfrm>
          <a:prstGeom prst="rect">
            <a:avLst/>
          </a:prstGeom>
        </p:spPr>
      </p:pic>
      <p:pic>
        <p:nvPicPr>
          <p:cNvPr id="10" name="Image 2" descr="preencoded.png"/>
          <p:cNvPicPr>
            <a:picLocks noChangeAspect="1"/>
          </p:cNvPicPr>
          <p:nvPr/>
        </p:nvPicPr>
        <p:blipFill>
          <a:blip r:embed="rId5"/>
          <a:stretch>
            <a:fillRect/>
          </a:stretch>
        </p:blipFill>
        <p:spPr>
          <a:xfrm>
            <a:off x="1452547" y="1171587"/>
            <a:ext cx="500594" cy="500594"/>
          </a:xfrm>
          <a:prstGeom prst="rect">
            <a:avLst/>
          </a:prstGeom>
        </p:spPr>
      </p:pic>
      <p:sp>
        <p:nvSpPr>
          <p:cNvPr id="11" name="Shape 6"/>
          <p:cNvSpPr/>
          <p:nvPr/>
        </p:nvSpPr>
        <p:spPr>
          <a:xfrm>
            <a:off x="7057314" y="996893"/>
            <a:ext cx="849980" cy="849980"/>
          </a:xfrm>
          <a:custGeom>
            <a:avLst/>
            <a:gdLst/>
            <a:ahLst/>
            <a:cxnLst/>
            <a:rect l="l" t="t" r="r" b="b"/>
            <a:pathLst>
              <a:path w="849980" h="849980">
                <a:moveTo>
                  <a:pt x="424990" y="0"/>
                </a:moveTo>
                <a:moveTo>
                  <a:pt x="424990" y="0"/>
                </a:moveTo>
                <a:cubicBezTo>
                  <a:pt x="659549" y="0"/>
                  <a:pt x="849980" y="190432"/>
                  <a:pt x="849980" y="424990"/>
                </a:cubicBezTo>
                <a:cubicBezTo>
                  <a:pt x="849980" y="659549"/>
                  <a:pt x="659549" y="849980"/>
                  <a:pt x="424990" y="849980"/>
                </a:cubicBezTo>
                <a:cubicBezTo>
                  <a:pt x="190432" y="849980"/>
                  <a:pt x="0" y="659549"/>
                  <a:pt x="0" y="424990"/>
                </a:cubicBezTo>
                <a:cubicBezTo>
                  <a:pt x="0" y="190432"/>
                  <a:pt x="190432" y="0"/>
                  <a:pt x="424990" y="0"/>
                </a:cubicBezTo>
                <a:close/>
              </a:path>
            </a:pathLst>
          </a:custGeom>
          <a:solidFill>
            <a:srgbClr val="5196FF"/>
          </a:solidFill>
          <a:ln/>
        </p:spPr>
      </p:sp>
      <p:pic>
        <p:nvPicPr>
          <p:cNvPr id="12" name="Image 3" descr="preencoded.png"/>
          <p:cNvPicPr>
            <a:picLocks noChangeAspect="1"/>
          </p:cNvPicPr>
          <p:nvPr/>
        </p:nvPicPr>
        <p:blipFill>
          <a:blip r:embed="rId5"/>
          <a:stretch>
            <a:fillRect/>
          </a:stretch>
        </p:blipFill>
        <p:spPr>
          <a:xfrm>
            <a:off x="7232008" y="1171587"/>
            <a:ext cx="500594" cy="500594"/>
          </a:xfrm>
          <a:prstGeom prst="rect">
            <a:avLst/>
          </a:prstGeom>
        </p:spPr>
      </p:pic>
      <p:sp>
        <p:nvSpPr>
          <p:cNvPr id="13" name="Shape 7"/>
          <p:cNvSpPr/>
          <p:nvPr/>
        </p:nvSpPr>
        <p:spPr>
          <a:xfrm>
            <a:off x="5377325" y="1414343"/>
            <a:ext cx="1221223" cy="253972"/>
          </a:xfrm>
          <a:custGeom>
            <a:avLst/>
            <a:gdLst/>
            <a:ahLst/>
            <a:cxnLst/>
            <a:rect l="l" t="t" r="r" b="b"/>
            <a:pathLst>
              <a:path w="1221223" h="253972">
                <a:moveTo>
                  <a:pt x="0" y="253972"/>
                </a:moveTo>
                <a:moveTo>
                  <a:pt x="0" y="253972"/>
                </a:moveTo>
                <a:lnTo>
                  <a:pt x="1221223" y="0"/>
                </a:lnTo>
              </a:path>
            </a:pathLst>
          </a:custGeom>
          <a:noFill/>
          <a:ln w="9525">
            <a:solidFill>
              <a:srgbClr val="A0A9B5"/>
            </a:solidFill>
            <a:prstDash val="solid"/>
            <a:headEnd type="none"/>
            <a:tailEnd type="arrow"/>
          </a:ln>
        </p:spPr>
      </p:sp>
      <p:sp>
        <p:nvSpPr>
          <p:cNvPr id="14" name="Text 8"/>
          <p:cNvSpPr/>
          <p:nvPr/>
        </p:nvSpPr>
        <p:spPr>
          <a:xfrm>
            <a:off x="293876" y="1944929"/>
            <a:ext cx="2700304" cy="37490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440" b="1" dirty="0">
                <a:solidFill>
                  <a:srgbClr val="000000"/>
                </a:solidFill>
                <a:latin typeface="Noto Sans" pitchFamily="34" charset="0"/>
                <a:ea typeface="Noto Sans" pitchFamily="34" charset="-122"/>
                <a:cs typeface="Noto Sans" pitchFamily="34" charset="-120"/>
              </a:rPr>
              <a:t>交流论坛类型</a:t>
            </a:r>
            <a:endParaRPr lang="en-US" sz="1440" dirty="0"/>
          </a:p>
        </p:txBody>
      </p:sp>
      <p:sp>
        <p:nvSpPr>
          <p:cNvPr id="15" name="Text 9"/>
          <p:cNvSpPr/>
          <p:nvPr/>
        </p:nvSpPr>
        <p:spPr>
          <a:xfrm>
            <a:off x="268784" y="2346822"/>
            <a:ext cx="2724431" cy="813816"/>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1008" dirty="0">
                <a:solidFill>
                  <a:srgbClr val="000000"/>
                </a:solidFill>
                <a:latin typeface="Noto Sans" pitchFamily="34" charset="0"/>
                <a:ea typeface="Noto Sans" pitchFamily="34" charset="-122"/>
                <a:cs typeface="Noto Sans" pitchFamily="34" charset="-120"/>
              </a:rPr>
              <a:t>表4-2交流论坛类型用于存储交流论坛的分类信息，包括各种主题和兴趣领域的论坛，方便用户快速找到自己感兴趣的讨论区。</a:t>
            </a:r>
            <a:endParaRPr lang="en-US" sz="1440" dirty="0"/>
          </a:p>
        </p:txBody>
      </p:sp>
      <p:sp>
        <p:nvSpPr>
          <p:cNvPr id="16" name="Text 10"/>
          <p:cNvSpPr/>
          <p:nvPr/>
        </p:nvSpPr>
        <p:spPr>
          <a:xfrm>
            <a:off x="6191629" y="1945308"/>
            <a:ext cx="2683587" cy="37490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440" b="1" dirty="0">
                <a:solidFill>
                  <a:srgbClr val="000000"/>
                </a:solidFill>
                <a:latin typeface="Noto Sans" pitchFamily="34" charset="0"/>
                <a:ea typeface="Noto Sans" pitchFamily="34" charset="-122"/>
                <a:cs typeface="Noto Sans" pitchFamily="34" charset="-120"/>
              </a:rPr>
              <a:t>管理员信息</a:t>
            </a:r>
            <a:endParaRPr lang="en-US" sz="1440" dirty="0"/>
          </a:p>
        </p:txBody>
      </p:sp>
      <p:sp>
        <p:nvSpPr>
          <p:cNvPr id="17" name="Text 11"/>
          <p:cNvSpPr/>
          <p:nvPr/>
        </p:nvSpPr>
        <p:spPr>
          <a:xfrm>
            <a:off x="6191629" y="2346822"/>
            <a:ext cx="2683587" cy="813816"/>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1008" dirty="0">
                <a:solidFill>
                  <a:srgbClr val="000000"/>
                </a:solidFill>
                <a:latin typeface="Noto Sans" pitchFamily="34" charset="0"/>
                <a:ea typeface="Noto Sans" pitchFamily="34" charset="-122"/>
                <a:cs typeface="Noto Sans" pitchFamily="34" charset="-120"/>
              </a:rPr>
              <a:t>表4-4管理员用于存储管理员的信息，包括他们的用户名、密码、权限等，以确保论坛的正常运营和管理。</a:t>
            </a:r>
            <a:endParaRPr lang="en-US" sz="1440" dirty="0"/>
          </a:p>
        </p:txBody>
      </p:sp>
      <p:sp>
        <p:nvSpPr>
          <p:cNvPr id="18" name="Text 12"/>
          <p:cNvSpPr/>
          <p:nvPr/>
        </p:nvSpPr>
        <p:spPr>
          <a:xfrm>
            <a:off x="1946278" y="3813962"/>
            <a:ext cx="5228539" cy="393192"/>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000000"/>
                </a:solidFill>
                <a:latin typeface="Noto Sans" pitchFamily="34" charset="0"/>
                <a:ea typeface="Noto Sans" pitchFamily="34" charset="-122"/>
                <a:cs typeface="Noto Sans" pitchFamily="34" charset="-120"/>
              </a:rPr>
              <a:t>商品信息评论表</a:t>
            </a:r>
            <a:endParaRPr lang="en-US" sz="1440" dirty="0"/>
          </a:p>
        </p:txBody>
      </p:sp>
      <p:sp>
        <p:nvSpPr>
          <p:cNvPr id="19" name="Text 13"/>
          <p:cNvSpPr/>
          <p:nvPr/>
        </p:nvSpPr>
        <p:spPr>
          <a:xfrm>
            <a:off x="1447472" y="4096512"/>
            <a:ext cx="6226150" cy="603504"/>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1008" dirty="0">
                <a:solidFill>
                  <a:srgbClr val="000000"/>
                </a:solidFill>
                <a:latin typeface="Noto Sans" pitchFamily="34" charset="0"/>
                <a:ea typeface="Noto Sans" pitchFamily="34" charset="-122"/>
                <a:cs typeface="Noto Sans" pitchFamily="34" charset="-120"/>
              </a:rPr>
              <a:t>表4-7商品信息评论表用于存储商品评论的信息，用户可以在这里发表对购买商品的使用感受和评价，帮助其他用户做出购买决策。</a:t>
            </a:r>
            <a:endParaRPr lang="en-US" sz="14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16287" y="1025211"/>
            <a:ext cx="1085027" cy="731520"/>
          </a:xfrm>
          <a:prstGeom prst="rect">
            <a:avLst/>
          </a:prstGeom>
          <a:noFill/>
          <a:ln/>
        </p:spPr>
        <p:txBody>
          <a:bodyPr wrap="square" lIns="95250" tIns="95250" rIns="95250" bIns="95250" rtlCol="0" anchor="t"/>
          <a:lstStyle/>
          <a:p>
            <a:pPr marL="0" indent="0" algn="ctr">
              <a:lnSpc>
                <a:spcPct val="100000"/>
              </a:lnSpc>
              <a:spcBef>
                <a:spcPts val="375"/>
              </a:spcBef>
              <a:buNone/>
            </a:pPr>
            <a:r>
              <a:rPr lang="en-US" sz="4320" b="1" dirty="0">
                <a:solidFill>
                  <a:srgbClr val="2E3E74"/>
                </a:solidFill>
                <a:latin typeface="Microsoft Yahei" pitchFamily="34" charset="0"/>
                <a:ea typeface="Microsoft Yahei" pitchFamily="34" charset="-122"/>
                <a:cs typeface="Microsoft Yahei" pitchFamily="34" charset="-120"/>
              </a:rPr>
              <a:t>04</a:t>
            </a:r>
            <a:endParaRPr lang="en-US" sz="1440" dirty="0"/>
          </a:p>
        </p:txBody>
      </p:sp>
      <p:sp>
        <p:nvSpPr>
          <p:cNvPr id="3" name="Text 1"/>
          <p:cNvSpPr/>
          <p:nvPr/>
        </p:nvSpPr>
        <p:spPr>
          <a:xfrm>
            <a:off x="395202" y="2205990"/>
            <a:ext cx="8342856" cy="731520"/>
          </a:xfrm>
          <a:prstGeom prst="rect">
            <a:avLst/>
          </a:prstGeom>
          <a:noFill/>
          <a:ln/>
        </p:spPr>
        <p:txBody>
          <a:bodyPr wrap="square" lIns="95250" tIns="95250" rIns="95250" bIns="95250" rtlCol="0" anchor="t"/>
          <a:lstStyle/>
          <a:p>
            <a:pPr marL="0" indent="0" algn="ctr">
              <a:lnSpc>
                <a:spcPct val="112500"/>
              </a:lnSpc>
              <a:spcBef>
                <a:spcPts val="375"/>
              </a:spcBef>
              <a:buNone/>
            </a:pPr>
            <a:r>
              <a:rPr lang="en-US" sz="2880" b="1" dirty="0">
                <a:solidFill>
                  <a:srgbClr val="3D4D83"/>
                </a:solidFill>
                <a:latin typeface="Microsoft Yahei" pitchFamily="34" charset="0"/>
                <a:ea typeface="Microsoft Yahei" pitchFamily="34" charset="-122"/>
                <a:cs typeface="Microsoft Yahei" pitchFamily="34" charset="-120"/>
              </a:rPr>
              <a:t>系统测试</a:t>
            </a:r>
            <a:endParaRPr lang="en-US" sz="14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lstStyle/>
          <a:p>
            <a:pPr marL="0" indent="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测试目的与方法</a:t>
            </a:r>
            <a:endParaRPr lang="en-US" sz="1440" dirty="0"/>
          </a:p>
        </p:txBody>
      </p:sp>
      <p:pic>
        <p:nvPicPr>
          <p:cNvPr id="3" name="Image 0" descr="preencoded.png"/>
          <p:cNvPicPr>
            <a:picLocks noChangeAspect="1"/>
          </p:cNvPicPr>
          <p:nvPr/>
        </p:nvPicPr>
        <p:blipFill>
          <a:blip r:embed="rId4"/>
          <a:stretch>
            <a:fillRect/>
          </a:stretch>
        </p:blipFill>
        <p:spPr>
          <a:xfrm>
            <a:off x="329280" y="1177557"/>
            <a:ext cx="8485441" cy="959092"/>
          </a:xfrm>
          <a:prstGeom prst="rect">
            <a:avLst/>
          </a:prstGeom>
        </p:spPr>
      </p:pic>
      <p:sp>
        <p:nvSpPr>
          <p:cNvPr id="4" name="Text 1"/>
          <p:cNvSpPr/>
          <p:nvPr/>
        </p:nvSpPr>
        <p:spPr>
          <a:xfrm>
            <a:off x="7893066" y="1106493"/>
            <a:ext cx="682508" cy="103327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4464" b="1" i="1" dirty="0">
                <a:solidFill>
                  <a:srgbClr val="3D4D83"/>
                </a:solidFill>
                <a:latin typeface="Noto Sans" pitchFamily="34" charset="0"/>
                <a:ea typeface="Noto Sans" pitchFamily="34" charset="-122"/>
                <a:cs typeface="Noto Sans" pitchFamily="34" charset="-120"/>
              </a:rPr>
              <a:t>1</a:t>
            </a:r>
            <a:endParaRPr lang="en-US" sz="1440" dirty="0"/>
          </a:p>
        </p:txBody>
      </p:sp>
      <p:sp>
        <p:nvSpPr>
          <p:cNvPr id="5" name="Shape 2"/>
          <p:cNvSpPr/>
          <p:nvPr/>
        </p:nvSpPr>
        <p:spPr>
          <a:xfrm>
            <a:off x="8821224" y="1379939"/>
            <a:ext cx="0" cy="530087"/>
          </a:xfrm>
          <a:custGeom>
            <a:avLst/>
            <a:gdLst/>
            <a:ahLst/>
            <a:cxnLst/>
            <a:rect l="l" t="t" r="r" b="b"/>
            <a:pathLst>
              <a:path h="530087">
                <a:moveTo>
                  <a:pt x="0" y="0"/>
                </a:moveTo>
                <a:moveTo>
                  <a:pt x="0" y="0"/>
                </a:moveTo>
                <a:lnTo>
                  <a:pt x="0" y="530087"/>
                </a:lnTo>
              </a:path>
            </a:pathLst>
          </a:custGeom>
          <a:noFill/>
          <a:ln w="59333">
            <a:solidFill>
              <a:srgbClr val="3D4D83"/>
            </a:solidFill>
            <a:prstDash val="solid"/>
            <a:headEnd type="none"/>
            <a:tailEnd type="none"/>
          </a:ln>
        </p:spPr>
      </p:sp>
      <p:sp>
        <p:nvSpPr>
          <p:cNvPr id="6" name="Shape 3"/>
          <p:cNvSpPr/>
          <p:nvPr/>
        </p:nvSpPr>
        <p:spPr>
          <a:xfrm>
            <a:off x="517789" y="967604"/>
            <a:ext cx="4236009" cy="417704"/>
          </a:xfrm>
          <a:custGeom>
            <a:avLst/>
            <a:gdLst/>
            <a:ahLst/>
            <a:cxnLst/>
            <a:rect l="l" t="t" r="r" b="b"/>
            <a:pathLst>
              <a:path w="4236009" h="417704">
                <a:moveTo>
                  <a:pt x="128110" y="0"/>
                </a:moveTo>
                <a:moveTo>
                  <a:pt x="128110" y="0"/>
                </a:moveTo>
                <a:lnTo>
                  <a:pt x="4107899" y="0"/>
                </a:lnTo>
                <a:quadBezTo>
                  <a:pt x="4236009" y="0"/>
                  <a:pt x="4236009" y="128110"/>
                </a:quadBezTo>
                <a:lnTo>
                  <a:pt x="4236009" y="289594"/>
                </a:lnTo>
                <a:quadBezTo>
                  <a:pt x="4236009" y="417704"/>
                  <a:pt x="4107899" y="417704"/>
                </a:quadBezTo>
                <a:lnTo>
                  <a:pt x="128110" y="417704"/>
                </a:lnTo>
                <a:quadBezTo>
                  <a:pt x="0" y="417704"/>
                  <a:pt x="0" y="289594"/>
                </a:quadBezTo>
                <a:lnTo>
                  <a:pt x="0" y="128110"/>
                </a:lnTo>
                <a:quadBezTo>
                  <a:pt x="0" y="0"/>
                  <a:pt x="128110" y="0"/>
                </a:quadBezTo>
                <a:close/>
              </a:path>
            </a:pathLst>
          </a:custGeom>
          <a:solidFill>
            <a:srgbClr val="0084FF"/>
          </a:solidFill>
          <a:ln/>
        </p:spPr>
      </p:sp>
      <p:sp>
        <p:nvSpPr>
          <p:cNvPr id="7" name="Shape 4"/>
          <p:cNvSpPr/>
          <p:nvPr/>
        </p:nvSpPr>
        <p:spPr>
          <a:xfrm>
            <a:off x="5119699" y="1356828"/>
            <a:ext cx="828261" cy="0"/>
          </a:xfrm>
          <a:custGeom>
            <a:avLst/>
            <a:gdLst/>
            <a:ahLst/>
            <a:cxnLst/>
            <a:rect l="l" t="t" r="r" b="b"/>
            <a:pathLst>
              <a:path w="828261">
                <a:moveTo>
                  <a:pt x="0" y="0"/>
                </a:moveTo>
                <a:moveTo>
                  <a:pt x="0" y="0"/>
                </a:moveTo>
                <a:lnTo>
                  <a:pt x="828261" y="0"/>
                </a:lnTo>
              </a:path>
            </a:pathLst>
          </a:custGeom>
          <a:noFill/>
          <a:ln w="19778">
            <a:solidFill>
              <a:srgbClr val="3D4D83">
                <a:alpha val="10196"/>
              </a:srgbClr>
            </a:solidFill>
            <a:prstDash val="solid"/>
            <a:headEnd type="none"/>
            <a:tailEnd type="none"/>
          </a:ln>
        </p:spPr>
      </p:sp>
      <p:pic>
        <p:nvPicPr>
          <p:cNvPr id="8" name="Image 1" descr="preencoded.png"/>
          <p:cNvPicPr>
            <a:picLocks noChangeAspect="1"/>
          </p:cNvPicPr>
          <p:nvPr/>
        </p:nvPicPr>
        <p:blipFill>
          <a:blip r:embed="rId5"/>
          <a:stretch>
            <a:fillRect/>
          </a:stretch>
        </p:blipFill>
        <p:spPr>
          <a:xfrm>
            <a:off x="357001" y="2483684"/>
            <a:ext cx="8485441" cy="959092"/>
          </a:xfrm>
          <a:prstGeom prst="rect">
            <a:avLst/>
          </a:prstGeom>
        </p:spPr>
      </p:pic>
      <p:sp>
        <p:nvSpPr>
          <p:cNvPr id="9" name="Text 5"/>
          <p:cNvSpPr/>
          <p:nvPr/>
        </p:nvSpPr>
        <p:spPr>
          <a:xfrm>
            <a:off x="490731" y="2412620"/>
            <a:ext cx="682508" cy="103327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4464" b="1" i="1" dirty="0">
                <a:solidFill>
                  <a:srgbClr val="3D4D83"/>
                </a:solidFill>
                <a:latin typeface="Noto Sans" pitchFamily="34" charset="0"/>
                <a:ea typeface="Noto Sans" pitchFamily="34" charset="-122"/>
                <a:cs typeface="Noto Sans" pitchFamily="34" charset="-120"/>
              </a:rPr>
              <a:t>2</a:t>
            </a:r>
            <a:endParaRPr lang="en-US" sz="1440" dirty="0"/>
          </a:p>
        </p:txBody>
      </p:sp>
      <p:sp>
        <p:nvSpPr>
          <p:cNvPr id="10" name="Shape 6"/>
          <p:cNvSpPr/>
          <p:nvPr/>
        </p:nvSpPr>
        <p:spPr>
          <a:xfrm>
            <a:off x="355674" y="2688063"/>
            <a:ext cx="0" cy="530087"/>
          </a:xfrm>
          <a:custGeom>
            <a:avLst/>
            <a:gdLst/>
            <a:ahLst/>
            <a:cxnLst/>
            <a:rect l="l" t="t" r="r" b="b"/>
            <a:pathLst>
              <a:path h="530087">
                <a:moveTo>
                  <a:pt x="0" y="0"/>
                </a:moveTo>
                <a:moveTo>
                  <a:pt x="0" y="0"/>
                </a:moveTo>
                <a:lnTo>
                  <a:pt x="0" y="530087"/>
                </a:lnTo>
              </a:path>
            </a:pathLst>
          </a:custGeom>
          <a:noFill/>
          <a:ln w="59333">
            <a:solidFill>
              <a:srgbClr val="949BF0"/>
            </a:solidFill>
            <a:prstDash val="solid"/>
            <a:headEnd type="none"/>
            <a:tailEnd type="none"/>
          </a:ln>
        </p:spPr>
      </p:sp>
      <p:sp>
        <p:nvSpPr>
          <p:cNvPr id="11" name="Shape 7"/>
          <p:cNvSpPr/>
          <p:nvPr/>
        </p:nvSpPr>
        <p:spPr>
          <a:xfrm>
            <a:off x="4181712" y="2274832"/>
            <a:ext cx="4235897" cy="417704"/>
          </a:xfrm>
          <a:custGeom>
            <a:avLst/>
            <a:gdLst/>
            <a:ahLst/>
            <a:cxnLst/>
            <a:rect l="l" t="t" r="r" b="b"/>
            <a:pathLst>
              <a:path w="4235897" h="417704">
                <a:moveTo>
                  <a:pt x="128110" y="0"/>
                </a:moveTo>
                <a:moveTo>
                  <a:pt x="128110" y="0"/>
                </a:moveTo>
                <a:lnTo>
                  <a:pt x="4107787" y="0"/>
                </a:lnTo>
                <a:quadBezTo>
                  <a:pt x="4235897" y="0"/>
                  <a:pt x="4235897" y="128110"/>
                </a:quadBezTo>
                <a:lnTo>
                  <a:pt x="4235897" y="289594"/>
                </a:lnTo>
                <a:quadBezTo>
                  <a:pt x="4235897" y="417704"/>
                  <a:pt x="4107787" y="417704"/>
                </a:quadBezTo>
                <a:lnTo>
                  <a:pt x="128110" y="417704"/>
                </a:lnTo>
                <a:quadBezTo>
                  <a:pt x="0" y="417704"/>
                  <a:pt x="0" y="289594"/>
                </a:quadBezTo>
                <a:lnTo>
                  <a:pt x="0" y="128110"/>
                </a:lnTo>
                <a:quadBezTo>
                  <a:pt x="0" y="0"/>
                  <a:pt x="128110" y="0"/>
                </a:quadBezTo>
                <a:close/>
              </a:path>
            </a:pathLst>
          </a:custGeom>
          <a:solidFill>
            <a:srgbClr val="5196FF"/>
          </a:solidFill>
          <a:ln/>
        </p:spPr>
      </p:sp>
      <p:sp>
        <p:nvSpPr>
          <p:cNvPr id="12" name="Shape 8"/>
          <p:cNvSpPr/>
          <p:nvPr/>
        </p:nvSpPr>
        <p:spPr>
          <a:xfrm>
            <a:off x="2950918" y="2649816"/>
            <a:ext cx="828261" cy="0"/>
          </a:xfrm>
          <a:custGeom>
            <a:avLst/>
            <a:gdLst/>
            <a:ahLst/>
            <a:cxnLst/>
            <a:rect l="l" t="t" r="r" b="b"/>
            <a:pathLst>
              <a:path w="828261">
                <a:moveTo>
                  <a:pt x="0" y="0"/>
                </a:moveTo>
                <a:moveTo>
                  <a:pt x="0" y="0"/>
                </a:moveTo>
                <a:lnTo>
                  <a:pt x="828261" y="0"/>
                </a:lnTo>
              </a:path>
            </a:pathLst>
          </a:custGeom>
          <a:noFill/>
          <a:ln w="19778">
            <a:solidFill>
              <a:srgbClr val="3D4D83">
                <a:alpha val="10196"/>
              </a:srgbClr>
            </a:solidFill>
            <a:prstDash val="solid"/>
            <a:headEnd type="none"/>
            <a:tailEnd type="none"/>
          </a:ln>
        </p:spPr>
      </p:sp>
      <p:pic>
        <p:nvPicPr>
          <p:cNvPr id="13" name="Image 2" descr="preencoded.png"/>
          <p:cNvPicPr>
            <a:picLocks noChangeAspect="1"/>
          </p:cNvPicPr>
          <p:nvPr/>
        </p:nvPicPr>
        <p:blipFill>
          <a:blip r:embed="rId4"/>
          <a:stretch>
            <a:fillRect/>
          </a:stretch>
        </p:blipFill>
        <p:spPr>
          <a:xfrm>
            <a:off x="301558" y="3790912"/>
            <a:ext cx="8485441" cy="959092"/>
          </a:xfrm>
          <a:prstGeom prst="rect">
            <a:avLst/>
          </a:prstGeom>
        </p:spPr>
      </p:pic>
      <p:sp>
        <p:nvSpPr>
          <p:cNvPr id="14" name="Text 9"/>
          <p:cNvSpPr/>
          <p:nvPr/>
        </p:nvSpPr>
        <p:spPr>
          <a:xfrm>
            <a:off x="7866008" y="3719848"/>
            <a:ext cx="682508" cy="1033272"/>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4464" b="1" i="1" dirty="0">
                <a:solidFill>
                  <a:srgbClr val="3D4D83"/>
                </a:solidFill>
                <a:latin typeface="Noto Sans" pitchFamily="34" charset="0"/>
                <a:ea typeface="Noto Sans" pitchFamily="34" charset="-122"/>
                <a:cs typeface="Noto Sans" pitchFamily="34" charset="-120"/>
              </a:rPr>
              <a:t>3</a:t>
            </a:r>
            <a:endParaRPr lang="en-US" sz="1440" dirty="0"/>
          </a:p>
        </p:txBody>
      </p:sp>
      <p:sp>
        <p:nvSpPr>
          <p:cNvPr id="15" name="Shape 10"/>
          <p:cNvSpPr/>
          <p:nvPr/>
        </p:nvSpPr>
        <p:spPr>
          <a:xfrm>
            <a:off x="8794166" y="3993294"/>
            <a:ext cx="0" cy="530087"/>
          </a:xfrm>
          <a:custGeom>
            <a:avLst/>
            <a:gdLst/>
            <a:ahLst/>
            <a:cxnLst/>
            <a:rect l="l" t="t" r="r" b="b"/>
            <a:pathLst>
              <a:path h="530087">
                <a:moveTo>
                  <a:pt x="0" y="0"/>
                </a:moveTo>
                <a:moveTo>
                  <a:pt x="0" y="0"/>
                </a:moveTo>
                <a:lnTo>
                  <a:pt x="0" y="530087"/>
                </a:lnTo>
              </a:path>
            </a:pathLst>
          </a:custGeom>
          <a:noFill/>
          <a:ln w="59333">
            <a:solidFill>
              <a:srgbClr val="3D4D83"/>
            </a:solidFill>
            <a:prstDash val="solid"/>
            <a:headEnd type="none"/>
            <a:tailEnd type="none"/>
          </a:ln>
        </p:spPr>
      </p:sp>
      <p:sp>
        <p:nvSpPr>
          <p:cNvPr id="16" name="Shape 11"/>
          <p:cNvSpPr/>
          <p:nvPr/>
        </p:nvSpPr>
        <p:spPr>
          <a:xfrm>
            <a:off x="5135088" y="3951197"/>
            <a:ext cx="828261" cy="0"/>
          </a:xfrm>
          <a:custGeom>
            <a:avLst/>
            <a:gdLst/>
            <a:ahLst/>
            <a:cxnLst/>
            <a:rect l="l" t="t" r="r" b="b"/>
            <a:pathLst>
              <a:path w="828261">
                <a:moveTo>
                  <a:pt x="0" y="0"/>
                </a:moveTo>
                <a:moveTo>
                  <a:pt x="0" y="0"/>
                </a:moveTo>
                <a:lnTo>
                  <a:pt x="828261" y="0"/>
                </a:lnTo>
              </a:path>
            </a:pathLst>
          </a:custGeom>
          <a:noFill/>
          <a:ln w="19778">
            <a:solidFill>
              <a:srgbClr val="3D4D83">
                <a:alpha val="10196"/>
              </a:srgbClr>
            </a:solidFill>
            <a:prstDash val="solid"/>
            <a:headEnd type="none"/>
            <a:tailEnd type="none"/>
          </a:ln>
        </p:spPr>
      </p:sp>
      <p:sp>
        <p:nvSpPr>
          <p:cNvPr id="17" name="Shape 12"/>
          <p:cNvSpPr/>
          <p:nvPr/>
        </p:nvSpPr>
        <p:spPr>
          <a:xfrm>
            <a:off x="490731" y="3580959"/>
            <a:ext cx="4235897" cy="417704"/>
          </a:xfrm>
          <a:custGeom>
            <a:avLst/>
            <a:gdLst/>
            <a:ahLst/>
            <a:cxnLst/>
            <a:rect l="l" t="t" r="r" b="b"/>
            <a:pathLst>
              <a:path w="4235897" h="417704">
                <a:moveTo>
                  <a:pt x="128110" y="0"/>
                </a:moveTo>
                <a:moveTo>
                  <a:pt x="128110" y="0"/>
                </a:moveTo>
                <a:lnTo>
                  <a:pt x="4107787" y="0"/>
                </a:lnTo>
                <a:quadBezTo>
                  <a:pt x="4235897" y="0"/>
                  <a:pt x="4235897" y="128110"/>
                </a:quadBezTo>
                <a:lnTo>
                  <a:pt x="4235897" y="289594"/>
                </a:lnTo>
                <a:quadBezTo>
                  <a:pt x="4235897" y="417704"/>
                  <a:pt x="4107787" y="417704"/>
                </a:quadBezTo>
                <a:lnTo>
                  <a:pt x="128110" y="417704"/>
                </a:lnTo>
                <a:quadBezTo>
                  <a:pt x="0" y="417704"/>
                  <a:pt x="0" y="289594"/>
                </a:quadBezTo>
                <a:lnTo>
                  <a:pt x="0" y="128110"/>
                </a:lnTo>
                <a:quadBezTo>
                  <a:pt x="0" y="0"/>
                  <a:pt x="128110" y="0"/>
                </a:quadBezTo>
                <a:close/>
              </a:path>
            </a:pathLst>
          </a:custGeom>
          <a:solidFill>
            <a:srgbClr val="0084FF"/>
          </a:solidFill>
          <a:ln/>
        </p:spPr>
      </p:sp>
      <p:sp>
        <p:nvSpPr>
          <p:cNvPr id="18" name="Text 13"/>
          <p:cNvSpPr/>
          <p:nvPr/>
        </p:nvSpPr>
        <p:spPr>
          <a:xfrm>
            <a:off x="517789" y="967604"/>
            <a:ext cx="4235897" cy="38922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584" b="1" dirty="0">
                <a:solidFill>
                  <a:srgbClr val="FFFFFF"/>
                </a:solidFill>
                <a:latin typeface="Noto Sans" pitchFamily="34" charset="0"/>
                <a:ea typeface="Noto Sans" pitchFamily="34" charset="-122"/>
                <a:cs typeface="Noto Sans" pitchFamily="34" charset="-120"/>
              </a:rPr>
              <a:t>验证系统满足用户需求</a:t>
            </a:r>
            <a:endParaRPr lang="en-US" sz="1440" dirty="0"/>
          </a:p>
        </p:txBody>
      </p:sp>
      <p:sp>
        <p:nvSpPr>
          <p:cNvPr id="19" name="Text 14"/>
          <p:cNvSpPr/>
          <p:nvPr/>
        </p:nvSpPr>
        <p:spPr>
          <a:xfrm>
            <a:off x="517789" y="1378221"/>
            <a:ext cx="7137907" cy="60350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通过系统测试，我们旨在确认系统是否真正符合用户的需求和预期，确保每一项功能都能在实际操作中达到用户所期望的效果。</a:t>
            </a:r>
            <a:endParaRPr lang="en-US" sz="1440" dirty="0"/>
          </a:p>
        </p:txBody>
      </p:sp>
      <p:sp>
        <p:nvSpPr>
          <p:cNvPr id="20" name="Text 15"/>
          <p:cNvSpPr/>
          <p:nvPr/>
        </p:nvSpPr>
        <p:spPr>
          <a:xfrm>
            <a:off x="4181712" y="2289072"/>
            <a:ext cx="4235897" cy="38922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584" b="1" dirty="0">
                <a:solidFill>
                  <a:srgbClr val="FFFFFF"/>
                </a:solidFill>
                <a:latin typeface="Noto Sans" pitchFamily="34" charset="0"/>
                <a:ea typeface="Noto Sans" pitchFamily="34" charset="-122"/>
                <a:cs typeface="Noto Sans" pitchFamily="34" charset="-120"/>
              </a:rPr>
              <a:t>确保系统功能的正确性</a:t>
            </a:r>
            <a:endParaRPr lang="en-US" sz="1440" dirty="0"/>
          </a:p>
        </p:txBody>
      </p:sp>
      <p:sp>
        <p:nvSpPr>
          <p:cNvPr id="21" name="Text 16"/>
          <p:cNvSpPr/>
          <p:nvPr/>
        </p:nvSpPr>
        <p:spPr>
          <a:xfrm>
            <a:off x="1179396" y="2692365"/>
            <a:ext cx="7212987" cy="393192"/>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系统测试的一个关键目的是通过详尽的检查过程，保证系统的所有功能不仅存在而且正确无误，从而确保系统的完整性和可靠性。</a:t>
            </a:r>
            <a:endParaRPr lang="en-US" sz="1440" dirty="0"/>
          </a:p>
        </p:txBody>
      </p:sp>
      <p:sp>
        <p:nvSpPr>
          <p:cNvPr id="22" name="Text 17"/>
          <p:cNvSpPr/>
          <p:nvPr/>
        </p:nvSpPr>
        <p:spPr>
          <a:xfrm>
            <a:off x="490731" y="3580959"/>
            <a:ext cx="4235897" cy="389224"/>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584" b="1" dirty="0">
                <a:solidFill>
                  <a:srgbClr val="FFFFFF"/>
                </a:solidFill>
                <a:latin typeface="Noto Sans" pitchFamily="34" charset="0"/>
                <a:ea typeface="Noto Sans" pitchFamily="34" charset="-122"/>
                <a:cs typeface="Noto Sans" pitchFamily="34" charset="-120"/>
              </a:rPr>
              <a:t>评估系统性能与安全性</a:t>
            </a:r>
            <a:endParaRPr lang="en-US" sz="1440" dirty="0"/>
          </a:p>
        </p:txBody>
      </p:sp>
      <p:sp>
        <p:nvSpPr>
          <p:cNvPr id="23" name="Text 18"/>
          <p:cNvSpPr/>
          <p:nvPr/>
        </p:nvSpPr>
        <p:spPr>
          <a:xfrm>
            <a:off x="490731" y="3991576"/>
            <a:ext cx="7192023" cy="60350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性能测试和安全测试是系统测试中不可或缺的部分，它们分别关注系统在各种条件下的表现以及系统的数据保护和访问控制机制的有效性。</a:t>
            </a:r>
            <a:endParaRPr lang="en-US" sz="14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lstStyle/>
          <a:p>
            <a:pPr marL="0" indent="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存在问题及改进方向</a:t>
            </a:r>
            <a:endParaRPr lang="en-US" sz="1440" dirty="0"/>
          </a:p>
        </p:txBody>
      </p:sp>
      <p:sp>
        <p:nvSpPr>
          <p:cNvPr id="3" name="Shape 1"/>
          <p:cNvSpPr/>
          <p:nvPr/>
        </p:nvSpPr>
        <p:spPr>
          <a:xfrm>
            <a:off x="5376778" y="1050644"/>
            <a:ext cx="3487192" cy="3704045"/>
          </a:xfrm>
          <a:custGeom>
            <a:avLst/>
            <a:gdLst/>
            <a:ahLst/>
            <a:cxnLst/>
            <a:rect l="l" t="t" r="r" b="b"/>
            <a:pathLst>
              <a:path w="3487192" h="3704045">
                <a:moveTo>
                  <a:pt x="3487192" y="1852022"/>
                </a:moveTo>
                <a:moveTo>
                  <a:pt x="3487192" y="1852022"/>
                </a:moveTo>
                <a:lnTo>
                  <a:pt x="2789754" y="0"/>
                </a:lnTo>
                <a:lnTo>
                  <a:pt x="0" y="0"/>
                </a:lnTo>
                <a:lnTo>
                  <a:pt x="697438" y="1852022"/>
                </a:lnTo>
                <a:lnTo>
                  <a:pt x="0" y="3704045"/>
                </a:lnTo>
                <a:lnTo>
                  <a:pt x="2789754" y="3704045"/>
                </a:lnTo>
                <a:close/>
              </a:path>
            </a:pathLst>
          </a:custGeom>
          <a:solidFill>
            <a:srgbClr val="5196FF"/>
          </a:solidFill>
          <a:ln/>
        </p:spPr>
      </p:sp>
      <p:sp>
        <p:nvSpPr>
          <p:cNvPr id="4" name="Shape 2"/>
          <p:cNvSpPr/>
          <p:nvPr/>
        </p:nvSpPr>
        <p:spPr>
          <a:xfrm flipH="1">
            <a:off x="243453" y="1050644"/>
            <a:ext cx="3524467" cy="3704045"/>
          </a:xfrm>
          <a:custGeom>
            <a:avLst/>
            <a:gdLst/>
            <a:ahLst/>
            <a:cxnLst/>
            <a:rect l="l" t="t" r="r" b="b"/>
            <a:pathLst>
              <a:path w="3524467" h="3704045">
                <a:moveTo>
                  <a:pt x="3524467" y="1852022"/>
                </a:moveTo>
                <a:moveTo>
                  <a:pt x="3524467" y="1852022"/>
                </a:moveTo>
                <a:lnTo>
                  <a:pt x="2819573" y="0"/>
                </a:lnTo>
                <a:lnTo>
                  <a:pt x="0" y="0"/>
                </a:lnTo>
                <a:lnTo>
                  <a:pt x="704893" y="1852022"/>
                </a:lnTo>
                <a:lnTo>
                  <a:pt x="0" y="3704045"/>
                </a:lnTo>
                <a:lnTo>
                  <a:pt x="2819573" y="3704045"/>
                </a:lnTo>
                <a:close/>
              </a:path>
            </a:pathLst>
          </a:custGeom>
          <a:solidFill>
            <a:srgbClr val="5196FF"/>
          </a:solidFill>
          <a:ln/>
        </p:spPr>
      </p:sp>
      <p:sp>
        <p:nvSpPr>
          <p:cNvPr id="5" name="Shape 3"/>
          <p:cNvSpPr/>
          <p:nvPr/>
        </p:nvSpPr>
        <p:spPr>
          <a:xfrm>
            <a:off x="3028828" y="975087"/>
            <a:ext cx="3061044" cy="3855160"/>
          </a:xfrm>
          <a:custGeom>
            <a:avLst/>
            <a:gdLst/>
            <a:ahLst/>
            <a:cxnLst/>
            <a:rect l="l" t="t" r="r" b="b"/>
            <a:pathLst>
              <a:path w="3061044" h="3855160">
                <a:moveTo>
                  <a:pt x="0" y="0"/>
                </a:moveTo>
                <a:moveTo>
                  <a:pt x="0" y="0"/>
                </a:moveTo>
                <a:lnTo>
                  <a:pt x="3061044" y="0"/>
                </a:lnTo>
                <a:lnTo>
                  <a:pt x="3061044" y="3855160"/>
                </a:lnTo>
                <a:lnTo>
                  <a:pt x="0" y="3855160"/>
                </a:lnTo>
                <a:close/>
              </a:path>
            </a:pathLst>
          </a:custGeom>
          <a:solidFill>
            <a:srgbClr val="0084FF"/>
          </a:solidFill>
          <a:ln/>
        </p:spPr>
      </p:sp>
      <p:sp>
        <p:nvSpPr>
          <p:cNvPr id="6" name="Text 4"/>
          <p:cNvSpPr/>
          <p:nvPr/>
        </p:nvSpPr>
        <p:spPr>
          <a:xfrm>
            <a:off x="436517" y="2541677"/>
            <a:ext cx="2505839" cy="448083"/>
          </a:xfrm>
          <a:prstGeom prst="rect">
            <a:avLst/>
          </a:prstGeom>
          <a:noFill/>
          <a:ln/>
        </p:spPr>
        <p:txBody>
          <a:bodyPr wrap="square" lIns="95250" tIns="95250" rIns="95250" bIns="95250" rtlCol="0" anchor="ctr"/>
          <a:lstStyle/>
          <a:p>
            <a:pPr marL="0" indent="0" algn="r">
              <a:lnSpc>
                <a:spcPct val="100000"/>
              </a:lnSpc>
              <a:spcBef>
                <a:spcPts val="375"/>
              </a:spcBef>
              <a:buNone/>
            </a:pPr>
            <a:r>
              <a:rPr lang="en-US" sz="1440" b="1" dirty="0">
                <a:solidFill>
                  <a:srgbClr val="FFFFFF"/>
                </a:solidFill>
                <a:latin typeface="Noto Sans" pitchFamily="34" charset="0"/>
                <a:ea typeface="Noto Sans" pitchFamily="34" charset="-122"/>
                <a:cs typeface="Noto Sans" pitchFamily="34" charset="-120"/>
              </a:rPr>
              <a:t>提升商品质量与服务</a:t>
            </a:r>
            <a:endParaRPr lang="en-US" sz="1440" dirty="0"/>
          </a:p>
        </p:txBody>
      </p:sp>
      <p:pic>
        <p:nvPicPr>
          <p:cNvPr id="7" name="Image 0" descr="https://sgw-dx.xf-yun.com/api/v1/sparkdesk/_1743925065663b3d0a538637049be868caf3a449db9ca.jpg?authorization=c2ltcGxlLWp3dCBhaz1zcGFya2Rlc2s4MDAwMDAwMDAwMDE7ZXhwPTMzMjA3MjUwNjU7YWxnbz1obWFjLXNoYTI1NjtzaWc9cmlvN0tIN3VSWlIrZmJtV0FkMnNKYTcxall0RHlLNEZ1WkVoWGR2Y2Zwcz0=&amp;x_location=7YfmxI7B7uKO7jlRxIftd6UoeLD="/>
          <p:cNvPicPr>
            <a:picLocks noChangeAspect="1"/>
          </p:cNvPicPr>
          <p:nvPr/>
        </p:nvPicPr>
        <p:blipFill>
          <a:blip r:embed="rId4"/>
          <a:srcRect/>
          <a:stretch/>
        </p:blipFill>
        <p:spPr>
          <a:xfrm>
            <a:off x="1436037" y="1515772"/>
            <a:ext cx="956638" cy="956638"/>
          </a:xfrm>
          <a:prstGeom prst="rect">
            <a:avLst/>
          </a:prstGeom>
        </p:spPr>
      </p:pic>
      <p:sp>
        <p:nvSpPr>
          <p:cNvPr id="8" name="Text 5"/>
          <p:cNvSpPr/>
          <p:nvPr/>
        </p:nvSpPr>
        <p:spPr>
          <a:xfrm>
            <a:off x="671660" y="3023803"/>
            <a:ext cx="2270696" cy="1024128"/>
          </a:xfrm>
          <a:prstGeom prst="rect">
            <a:avLst/>
          </a:prstGeom>
          <a:noFill/>
          <a:ln/>
        </p:spPr>
        <p:txBody>
          <a:bodyPr wrap="square" lIns="95250" tIns="95250" rIns="95250" bIns="95250" rtlCol="0" anchor="t">
            <a:spAutoFit/>
          </a:bodyPr>
          <a:lstStyle/>
          <a:p>
            <a:pPr marL="0" indent="0" algn="r">
              <a:lnSpc>
                <a:spcPct val="100000"/>
              </a:lnSpc>
              <a:spcBef>
                <a:spcPts val="375"/>
              </a:spcBef>
              <a:buNone/>
            </a:pPr>
            <a:r>
              <a:rPr lang="en-US" sz="1152" dirty="0">
                <a:solidFill>
                  <a:srgbClr val="FFFFFF"/>
                </a:solidFill>
                <a:latin typeface="Noto Sans" pitchFamily="34" charset="0"/>
                <a:ea typeface="Noto Sans" pitchFamily="34" charset="-122"/>
                <a:cs typeface="Noto Sans" pitchFamily="34" charset="-120"/>
              </a:rPr>
              <a:t>随着消费者对商品质量和售后服务要求的提升，电子商务平台需加强供应链管理，确保商品质量，同时优化客服系统，提高用户满意度。</a:t>
            </a:r>
            <a:endParaRPr lang="en-US" sz="1440" dirty="0"/>
          </a:p>
        </p:txBody>
      </p:sp>
      <p:sp>
        <p:nvSpPr>
          <p:cNvPr id="9" name="Text 6"/>
          <p:cNvSpPr/>
          <p:nvPr/>
        </p:nvSpPr>
        <p:spPr>
          <a:xfrm>
            <a:off x="3187044" y="2445346"/>
            <a:ext cx="2744610" cy="448083"/>
          </a:xfrm>
          <a:prstGeom prst="rect">
            <a:avLst/>
          </a:prstGeom>
          <a:noFill/>
          <a:ln/>
        </p:spPr>
        <p:txBody>
          <a:bodyPr wrap="square" lIns="95250" tIns="95250" rIns="95250" bIns="95250" rtlCol="0" anchor="ctr"/>
          <a:lstStyle/>
          <a:p>
            <a:pPr marL="0" indent="0" algn="ctr">
              <a:lnSpc>
                <a:spcPct val="100000"/>
              </a:lnSpc>
              <a:spcBef>
                <a:spcPts val="375"/>
              </a:spcBef>
              <a:buNone/>
            </a:pPr>
            <a:r>
              <a:rPr lang="en-US" sz="1440" b="1" dirty="0">
                <a:solidFill>
                  <a:srgbClr val="FFFFFF"/>
                </a:solidFill>
                <a:latin typeface="Noto Sans" pitchFamily="34" charset="0"/>
                <a:ea typeface="Noto Sans" pitchFamily="34" charset="-122"/>
                <a:cs typeface="Noto Sans" pitchFamily="34" charset="-120"/>
              </a:rPr>
              <a:t>增强运营效率与成本控制</a:t>
            </a:r>
            <a:endParaRPr lang="en-US" sz="1440" dirty="0"/>
          </a:p>
        </p:txBody>
      </p:sp>
      <p:pic>
        <p:nvPicPr>
          <p:cNvPr id="10" name="Image 1" descr="https://sgw-dx.xf-yun.com/api/v1/sparkdesk/_17439250688642c4b0725c6594a089629269a590dca06.jpg?authorization=c2ltcGxlLWp3dCBhaz1zcGFya2Rlc2s4MDAwMDAwMDAwMDE7ZXhwPTMzMjA3MjUwNjg7YWxnbz1obWFjLXNoYTI1NjtzaWc9WjQxYkd2SVd1c3JVVktFdE1EaEVTN0RSZ3R3RmhOYm50Q3FpdlpnZTdwOD0=&amp;x_location=7YfmxI7B7uKO7jlRxIftd6UoeLD="/>
          <p:cNvPicPr>
            <a:picLocks noChangeAspect="1"/>
          </p:cNvPicPr>
          <p:nvPr/>
        </p:nvPicPr>
        <p:blipFill>
          <a:blip r:embed="rId5"/>
          <a:srcRect/>
          <a:stretch/>
        </p:blipFill>
        <p:spPr>
          <a:xfrm>
            <a:off x="4027456" y="1260717"/>
            <a:ext cx="1063787" cy="1063787"/>
          </a:xfrm>
          <a:prstGeom prst="rect">
            <a:avLst/>
          </a:prstGeom>
        </p:spPr>
      </p:pic>
      <p:sp>
        <p:nvSpPr>
          <p:cNvPr id="11" name="Text 7"/>
          <p:cNvSpPr/>
          <p:nvPr/>
        </p:nvSpPr>
        <p:spPr>
          <a:xfrm>
            <a:off x="3354250" y="2959795"/>
            <a:ext cx="2410199" cy="1024128"/>
          </a:xfrm>
          <a:prstGeom prst="rect">
            <a:avLst/>
          </a:prstGeom>
          <a:noFill/>
          <a:ln/>
        </p:spPr>
        <p:txBody>
          <a:bodyPr wrap="square" lIns="95250" tIns="95250" rIns="95250" bIns="95250" rtlCol="0" anchor="t">
            <a:spAutoFit/>
          </a:bodyPr>
          <a:lstStyle/>
          <a:p>
            <a:pPr marL="0" indent="0" algn="ctr">
              <a:lnSpc>
                <a:spcPct val="100000"/>
              </a:lnSpc>
              <a:spcBef>
                <a:spcPts val="375"/>
              </a:spcBef>
              <a:buNone/>
            </a:pPr>
            <a:r>
              <a:rPr lang="en-US" sz="1152" dirty="0">
                <a:solidFill>
                  <a:srgbClr val="FFFFFF"/>
                </a:solidFill>
                <a:latin typeface="Noto Sans" pitchFamily="34" charset="0"/>
                <a:ea typeface="Noto Sans" pitchFamily="34" charset="-122"/>
                <a:cs typeface="Noto Sans" pitchFamily="34" charset="-120"/>
              </a:rPr>
              <a:t>商家面临的运营挑战促使电子商务平台寻求技术创新，通过自动化工具和数据分析提升运营效率，降低库存和物流成本，保持竞争力。</a:t>
            </a:r>
            <a:endParaRPr lang="en-US" sz="1440" dirty="0"/>
          </a:p>
        </p:txBody>
      </p:sp>
      <p:sp>
        <p:nvSpPr>
          <p:cNvPr id="12" name="Text 8"/>
          <p:cNvSpPr/>
          <p:nvPr/>
        </p:nvSpPr>
        <p:spPr>
          <a:xfrm>
            <a:off x="6214804" y="2541677"/>
            <a:ext cx="2416783" cy="448083"/>
          </a:xfrm>
          <a:prstGeom prst="rect">
            <a:avLst/>
          </a:prstGeom>
          <a:noFill/>
          <a:ln/>
        </p:spPr>
        <p:txBody>
          <a:bodyPr wrap="square" lIns="95250" tIns="95250" rIns="95250" bIns="95250" rtlCol="0" anchor="ctr"/>
          <a:lstStyle/>
          <a:p>
            <a:pPr marL="0" indent="0">
              <a:lnSpc>
                <a:spcPct val="100000"/>
              </a:lnSpc>
              <a:spcBef>
                <a:spcPts val="375"/>
              </a:spcBef>
              <a:buNone/>
            </a:pPr>
            <a:r>
              <a:rPr lang="en-US" sz="1440" b="1" dirty="0">
                <a:solidFill>
                  <a:srgbClr val="FFFFFF"/>
                </a:solidFill>
                <a:latin typeface="Noto Sans" pitchFamily="34" charset="0"/>
                <a:ea typeface="Noto Sans" pitchFamily="34" charset="-122"/>
                <a:cs typeface="Noto Sans" pitchFamily="34" charset="-120"/>
              </a:rPr>
              <a:t>强化安全保障措施</a:t>
            </a:r>
            <a:endParaRPr lang="en-US" sz="1440" dirty="0"/>
          </a:p>
        </p:txBody>
      </p:sp>
      <p:pic>
        <p:nvPicPr>
          <p:cNvPr id="13" name="Image 2" descr="https://sgw-dx.xf-yun.com/api/v1/sparkdesk/_1743925071980f9856ee9245c4a5380ce874ac8788fe9.jpg?authorization=c2ltcGxlLWp3dCBhaz1zcGFya2Rlc2s4MDAwMDAwMDAwMDE7ZXhwPTMzMjA3MjUwNzI7YWxnbz1obWFjLXNoYTI1NjtzaWc9eVpESWtvcFZjdHRHbWNtL3B4cU82MmtiTnJRM3NQeGRsL2ZlYjJlLzJVbz0=&amp;x_location=7YfmxI7B7uKO7jlRxIftd6UoeLD="/>
          <p:cNvPicPr>
            <a:picLocks noChangeAspect="1"/>
          </p:cNvPicPr>
          <p:nvPr/>
        </p:nvPicPr>
        <p:blipFill>
          <a:blip r:embed="rId6"/>
          <a:srcRect/>
          <a:stretch/>
        </p:blipFill>
        <p:spPr>
          <a:xfrm>
            <a:off x="6852864" y="1515772"/>
            <a:ext cx="956638" cy="956638"/>
          </a:xfrm>
          <a:prstGeom prst="rect">
            <a:avLst/>
          </a:prstGeom>
        </p:spPr>
      </p:pic>
      <p:sp>
        <p:nvSpPr>
          <p:cNvPr id="14" name="Text 9"/>
          <p:cNvSpPr/>
          <p:nvPr/>
        </p:nvSpPr>
        <p:spPr>
          <a:xfrm>
            <a:off x="6207872" y="3023803"/>
            <a:ext cx="2226174" cy="1024128"/>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FFFFFF"/>
                </a:solidFill>
                <a:latin typeface="Noto Sans" pitchFamily="34" charset="0"/>
                <a:ea typeface="Noto Sans" pitchFamily="34" charset="-122"/>
                <a:cs typeface="Noto Sans" pitchFamily="34" charset="-120"/>
              </a:rPr>
              <a:t>为应对日益严峻的网络安全形势，电子商务平台必须采用先进的加密技术和身份认证机制，保护用户数据安全，建立用户信任。</a:t>
            </a:r>
            <a:endParaRPr lang="en-US" sz="14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016287" y="1025211"/>
            <a:ext cx="1085027" cy="731520"/>
          </a:xfrm>
          <a:prstGeom prst="rect">
            <a:avLst/>
          </a:prstGeom>
          <a:noFill/>
          <a:ln/>
        </p:spPr>
        <p:txBody>
          <a:bodyPr wrap="square" lIns="95250" tIns="95250" rIns="95250" bIns="95250" rtlCol="0" anchor="t"/>
          <a:lstStyle/>
          <a:p>
            <a:pPr marL="0" indent="0" algn="ctr">
              <a:lnSpc>
                <a:spcPct val="100000"/>
              </a:lnSpc>
              <a:spcBef>
                <a:spcPts val="375"/>
              </a:spcBef>
              <a:buNone/>
            </a:pPr>
            <a:r>
              <a:rPr lang="en-US" sz="4320" b="1" dirty="0">
                <a:solidFill>
                  <a:srgbClr val="2E3E74"/>
                </a:solidFill>
                <a:latin typeface="Microsoft Yahei" pitchFamily="34" charset="0"/>
                <a:ea typeface="Microsoft Yahei" pitchFamily="34" charset="-122"/>
                <a:cs typeface="Microsoft Yahei" pitchFamily="34" charset="-120"/>
              </a:rPr>
              <a:t>05</a:t>
            </a:r>
            <a:endParaRPr lang="en-US" sz="1440" dirty="0"/>
          </a:p>
        </p:txBody>
      </p:sp>
      <p:sp>
        <p:nvSpPr>
          <p:cNvPr id="3" name="Text 1"/>
          <p:cNvSpPr/>
          <p:nvPr/>
        </p:nvSpPr>
        <p:spPr>
          <a:xfrm>
            <a:off x="395202" y="2205990"/>
            <a:ext cx="8342856" cy="731520"/>
          </a:xfrm>
          <a:prstGeom prst="rect">
            <a:avLst/>
          </a:prstGeom>
          <a:noFill/>
          <a:ln/>
        </p:spPr>
        <p:txBody>
          <a:bodyPr wrap="square" lIns="95250" tIns="95250" rIns="95250" bIns="95250" rtlCol="0" anchor="t"/>
          <a:lstStyle/>
          <a:p>
            <a:pPr marL="0" indent="0" algn="ctr">
              <a:lnSpc>
                <a:spcPct val="112500"/>
              </a:lnSpc>
              <a:spcBef>
                <a:spcPts val="375"/>
              </a:spcBef>
              <a:buNone/>
            </a:pPr>
            <a:r>
              <a:rPr lang="en-US" sz="2880" b="1" dirty="0">
                <a:solidFill>
                  <a:srgbClr val="3D4D83"/>
                </a:solidFill>
                <a:latin typeface="Microsoft Yahei" pitchFamily="34" charset="0"/>
                <a:ea typeface="Microsoft Yahei" pitchFamily="34" charset="-122"/>
                <a:cs typeface="Microsoft Yahei" pitchFamily="34" charset="-120"/>
              </a:rPr>
              <a:t>学习感悟与展望</a:t>
            </a:r>
            <a:endParaRPr lang="en-US" sz="14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lstStyle/>
          <a:p>
            <a:pPr marL="0" indent="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毕业设计体会</a:t>
            </a:r>
            <a:endParaRPr lang="en-US" sz="1440" dirty="0"/>
          </a:p>
        </p:txBody>
      </p:sp>
      <p:pic>
        <p:nvPicPr>
          <p:cNvPr id="3" name="Image 0" descr="https://sgw-dx.xf-yun.com/api/v1/sparkdesk/_1743925089055e3574b3286ff426faec001495aaad5b6.jpg?authorization=c2ltcGxlLWp3dCBhaz1zcGFya2Rlc2s4MDAwMDAwMDAwMDE7ZXhwPTMzMjA3MjUwODk7YWxnbz1obWFjLXNoYTI1NjtzaWc9SDVYS1JvMTllZkxra29kbkR0MW90TTBOYVlhbktwSFpjUk9raEI0NmUrdz0=&amp;x_location=7YfmxI7B7uKO7jlRxIftd6UoeLD="/>
          <p:cNvPicPr>
            <a:picLocks noChangeAspect="1"/>
          </p:cNvPicPr>
          <p:nvPr/>
        </p:nvPicPr>
        <p:blipFill>
          <a:blip r:embed="rId4"/>
          <a:srcRect/>
          <a:stretch/>
        </p:blipFill>
        <p:spPr>
          <a:xfrm>
            <a:off x="245567" y="945574"/>
            <a:ext cx="2668369" cy="1499084"/>
          </a:xfrm>
          <a:prstGeom prst="rect">
            <a:avLst/>
          </a:prstGeom>
        </p:spPr>
      </p:pic>
      <p:sp>
        <p:nvSpPr>
          <p:cNvPr id="4" name="Text 1"/>
          <p:cNvSpPr/>
          <p:nvPr/>
        </p:nvSpPr>
        <p:spPr>
          <a:xfrm>
            <a:off x="245567" y="2532534"/>
            <a:ext cx="2668369" cy="42062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584" b="1" dirty="0">
                <a:solidFill>
                  <a:srgbClr val="3D4D83"/>
                </a:solidFill>
                <a:latin typeface="Microsoft Yahei" pitchFamily="34" charset="0"/>
                <a:ea typeface="Microsoft Yahei" pitchFamily="34" charset="-122"/>
                <a:cs typeface="Microsoft Yahei" pitchFamily="34" charset="-120"/>
              </a:rPr>
              <a:t>系统开发的重要性</a:t>
            </a:r>
            <a:endParaRPr lang="en-US" sz="1440" dirty="0"/>
          </a:p>
        </p:txBody>
      </p:sp>
      <p:sp>
        <p:nvSpPr>
          <p:cNvPr id="5" name="Text 2"/>
          <p:cNvSpPr/>
          <p:nvPr/>
        </p:nvSpPr>
        <p:spPr>
          <a:xfrm>
            <a:off x="245567" y="3117417"/>
            <a:ext cx="2668369" cy="1280160"/>
          </a:xfrm>
          <a:prstGeom prst="rect">
            <a:avLst/>
          </a:prstGeom>
          <a:noFill/>
          <a:ln/>
        </p:spPr>
        <p:txBody>
          <a:bodyPr wrap="square" lIns="95250" tIns="95250" rIns="95250" bIns="95250" rtlCol="0" anchor="t">
            <a:spAutoFit/>
          </a:bodyPr>
          <a:lstStyle/>
          <a:p>
            <a:pPr marL="0" indent="0" algn="just">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随着电子商务的蓬勃发展，一个功能完备的电商平台成为商业成功的关键。这表明系统开发在现代商业中具有至关重要的地位。</a:t>
            </a:r>
            <a:endParaRPr lang="en-US" sz="1440" dirty="0"/>
          </a:p>
        </p:txBody>
      </p:sp>
      <p:pic>
        <p:nvPicPr>
          <p:cNvPr id="6" name="Image 1" descr="https://sgw-dx.xf-yun.com/api/v1/sparkdesk/_17439250922792ef42886188447a2ae498922c1b5e434.jpg?authorization=c2ltcGxlLWp3dCBhaz1zcGFya2Rlc2s4MDAwMDAwMDAwMDE7ZXhwPTMzMjA3MjUwOTI7YWxnbz1obWFjLXNoYTI1NjtzaWc9M2JOeDFHdi9QeHJJbnh1YVNmbEllOXRzR1dqNE5aQ1NKUm10L1l4RGNsVT0=&amp;x_location=7YfmxI7B7uKO7jlRxIftd6UoeLD="/>
          <p:cNvPicPr>
            <a:picLocks noChangeAspect="1"/>
          </p:cNvPicPr>
          <p:nvPr/>
        </p:nvPicPr>
        <p:blipFill>
          <a:blip r:embed="rId5"/>
          <a:srcRect/>
          <a:stretch/>
        </p:blipFill>
        <p:spPr>
          <a:xfrm>
            <a:off x="3259189" y="945574"/>
            <a:ext cx="2668369" cy="1499084"/>
          </a:xfrm>
          <a:prstGeom prst="rect">
            <a:avLst/>
          </a:prstGeom>
        </p:spPr>
      </p:pic>
      <p:sp>
        <p:nvSpPr>
          <p:cNvPr id="7" name="Text 3"/>
          <p:cNvSpPr/>
          <p:nvPr/>
        </p:nvSpPr>
        <p:spPr>
          <a:xfrm>
            <a:off x="3259189" y="2532534"/>
            <a:ext cx="2668369" cy="42062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584" b="1" dirty="0">
                <a:solidFill>
                  <a:srgbClr val="3D4D83"/>
                </a:solidFill>
                <a:latin typeface="Microsoft Yahei" pitchFamily="34" charset="0"/>
                <a:ea typeface="Microsoft Yahei" pitchFamily="34" charset="-122"/>
                <a:cs typeface="Microsoft Yahei" pitchFamily="34" charset="-120"/>
              </a:rPr>
              <a:t>技术选择与应用</a:t>
            </a:r>
            <a:endParaRPr lang="en-US" sz="1440" dirty="0"/>
          </a:p>
        </p:txBody>
      </p:sp>
      <p:sp>
        <p:nvSpPr>
          <p:cNvPr id="8" name="Text 4"/>
          <p:cNvSpPr/>
          <p:nvPr/>
        </p:nvSpPr>
        <p:spPr>
          <a:xfrm>
            <a:off x="3259189" y="3117417"/>
            <a:ext cx="2668369" cy="1280160"/>
          </a:xfrm>
          <a:prstGeom prst="rect">
            <a:avLst/>
          </a:prstGeom>
          <a:noFill/>
          <a:ln/>
        </p:spPr>
        <p:txBody>
          <a:bodyPr wrap="square" lIns="95250" tIns="95250" rIns="95250" bIns="95250" rtlCol="0" anchor="t">
            <a:spAutoFit/>
          </a:bodyPr>
          <a:lstStyle/>
          <a:p>
            <a:pPr marL="0" indent="0" algn="just">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作者选择了Java语言和SSM框架进行开发，并结合MySQL数据库，这体现了在技术选择上的深思熟虑。使用vue.js前端框架和B/S结构，展示了对当前流行技术趋势的把握和应用能力。</a:t>
            </a:r>
            <a:endParaRPr lang="en-US" sz="1440" dirty="0"/>
          </a:p>
        </p:txBody>
      </p:sp>
      <p:pic>
        <p:nvPicPr>
          <p:cNvPr id="9" name="Image 2" descr="https://sgw-dx.xf-yun.com/api/v1/sparkdesk/_174392509548798ad5c15b3ea4bd1a8f9313e2ef40247.jpg?authorization=c2ltcGxlLWp3dCBhaz1zcGFya2Rlc2s4MDAwMDAwMDAwMDE7ZXhwPTMzMjA3MjUwOTU7YWxnbz1obWFjLXNoYTI1NjtzaWc9NmIwOWZncU9jalNqejI4TFNIMnJHSHdQV3pTaFJZdXFzWDJwK3Z3LytCMD0=&amp;x_location=7YfmxI7B7uKO7jlRxIftd6UoeLD="/>
          <p:cNvPicPr>
            <a:picLocks noChangeAspect="1"/>
          </p:cNvPicPr>
          <p:nvPr/>
        </p:nvPicPr>
        <p:blipFill>
          <a:blip r:embed="rId6"/>
          <a:srcRect/>
          <a:stretch/>
        </p:blipFill>
        <p:spPr>
          <a:xfrm>
            <a:off x="6230064" y="945574"/>
            <a:ext cx="2668369" cy="1499084"/>
          </a:xfrm>
          <a:prstGeom prst="rect">
            <a:avLst/>
          </a:prstGeom>
        </p:spPr>
      </p:pic>
      <p:sp>
        <p:nvSpPr>
          <p:cNvPr id="10" name="Text 5"/>
          <p:cNvSpPr/>
          <p:nvPr/>
        </p:nvSpPr>
        <p:spPr>
          <a:xfrm>
            <a:off x="6230064" y="2534254"/>
            <a:ext cx="2668369" cy="420624"/>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584" b="1" dirty="0">
                <a:solidFill>
                  <a:srgbClr val="3D4D83"/>
                </a:solidFill>
                <a:latin typeface="Microsoft Yahei" pitchFamily="34" charset="0"/>
                <a:ea typeface="Microsoft Yahei" pitchFamily="34" charset="-122"/>
                <a:cs typeface="Microsoft Yahei" pitchFamily="34" charset="-120"/>
              </a:rPr>
              <a:t>问题解决与优化</a:t>
            </a:r>
            <a:endParaRPr lang="en-US" sz="1440" dirty="0"/>
          </a:p>
        </p:txBody>
      </p:sp>
      <p:sp>
        <p:nvSpPr>
          <p:cNvPr id="11" name="Text 6"/>
          <p:cNvSpPr/>
          <p:nvPr/>
        </p:nvSpPr>
        <p:spPr>
          <a:xfrm>
            <a:off x="6230064" y="3119137"/>
            <a:ext cx="2668369" cy="1280160"/>
          </a:xfrm>
          <a:prstGeom prst="rect">
            <a:avLst/>
          </a:prstGeom>
          <a:noFill/>
          <a:ln/>
        </p:spPr>
        <p:txBody>
          <a:bodyPr wrap="square" lIns="95250" tIns="95250" rIns="95250" bIns="95250" rtlCol="0" anchor="t">
            <a:spAutoFit/>
          </a:bodyPr>
          <a:lstStyle/>
          <a:p>
            <a:pPr marL="0" indent="0" algn="just">
              <a:lnSpc>
                <a:spcPct val="100000"/>
              </a:lnSpc>
              <a:spcBef>
                <a:spcPts val="375"/>
              </a:spcBef>
              <a:buNone/>
            </a:pPr>
            <a:r>
              <a:rPr lang="en-US" sz="1152" dirty="0">
                <a:solidFill>
                  <a:srgbClr val="000000"/>
                </a:solidFill>
                <a:latin typeface="Microsoft Yahei" pitchFamily="34" charset="0"/>
                <a:ea typeface="Microsoft Yahei" pitchFamily="34" charset="-122"/>
                <a:cs typeface="Microsoft Yahei" pitchFamily="34" charset="-120"/>
              </a:rPr>
              <a:t>在开发过程中，作者遇到了诸如系统同时性、数据处理特性等问题，并通过不断学习和实践找到了解决方案。例如，对于移动路径标签中集中的手机特定页面功能的调整，作者希望在未来的研发中找到更好的解决方法。</a:t>
            </a:r>
            <a:endParaRPr lang="en-US" sz="14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4201" y="167085"/>
            <a:ext cx="8127999" cy="676656"/>
          </a:xfrm>
          <a:prstGeom prst="rect">
            <a:avLst/>
          </a:prstGeom>
          <a:noFill/>
          <a:ln/>
        </p:spPr>
        <p:txBody>
          <a:bodyPr wrap="square" lIns="95250" tIns="95250" rIns="95250" bIns="95250" rtlCol="0" anchor="t"/>
          <a:lstStyle/>
          <a:p>
            <a:pPr marL="0" indent="0">
              <a:lnSpc>
                <a:spcPct val="112500"/>
              </a:lnSpc>
              <a:spcBef>
                <a:spcPts val="375"/>
              </a:spcBef>
              <a:buNone/>
            </a:pPr>
            <a:r>
              <a:rPr lang="en-US" sz="2592" b="1" dirty="0">
                <a:solidFill>
                  <a:srgbClr val="111D44"/>
                </a:solidFill>
                <a:latin typeface="Microsoft Yahei" pitchFamily="34" charset="0"/>
                <a:ea typeface="Microsoft Yahei" pitchFamily="34" charset="-122"/>
                <a:cs typeface="Microsoft Yahei" pitchFamily="34" charset="-120"/>
              </a:rPr>
              <a:t>未来发展方向</a:t>
            </a:r>
            <a:endParaRPr lang="en-US" sz="1440" dirty="0"/>
          </a:p>
        </p:txBody>
      </p:sp>
      <p:sp>
        <p:nvSpPr>
          <p:cNvPr id="3" name="Shape 1"/>
          <p:cNvSpPr/>
          <p:nvPr/>
        </p:nvSpPr>
        <p:spPr>
          <a:xfrm>
            <a:off x="335027" y="1359647"/>
            <a:ext cx="2628479" cy="3203954"/>
          </a:xfrm>
          <a:custGeom>
            <a:avLst/>
            <a:gdLst/>
            <a:ahLst/>
            <a:cxnLst/>
            <a:rect l="l" t="t" r="r" b="b"/>
            <a:pathLst>
              <a:path w="2628479" h="3203954">
                <a:moveTo>
                  <a:pt x="0" y="0"/>
                </a:moveTo>
                <a:moveTo>
                  <a:pt x="0" y="0"/>
                </a:moveTo>
                <a:lnTo>
                  <a:pt x="2628479" y="0"/>
                </a:lnTo>
                <a:lnTo>
                  <a:pt x="2628479" y="3203954"/>
                </a:lnTo>
                <a:lnTo>
                  <a:pt x="0" y="3203954"/>
                </a:lnTo>
                <a:close/>
              </a:path>
            </a:pathLst>
          </a:custGeom>
          <a:solidFill>
            <a:srgbClr val="FFFFFF"/>
          </a:solidFill>
          <a:ln w="9525">
            <a:solidFill>
              <a:srgbClr val="3D4D83"/>
            </a:solidFill>
            <a:prstDash val="solid"/>
          </a:ln>
        </p:spPr>
      </p:sp>
      <p:sp>
        <p:nvSpPr>
          <p:cNvPr id="4" name="Shape 2"/>
          <p:cNvSpPr/>
          <p:nvPr/>
        </p:nvSpPr>
        <p:spPr>
          <a:xfrm>
            <a:off x="326084" y="1075926"/>
            <a:ext cx="2642616" cy="719633"/>
          </a:xfrm>
          <a:custGeom>
            <a:avLst/>
            <a:gdLst/>
            <a:ahLst/>
            <a:cxnLst/>
            <a:rect l="l" t="t" r="r" b="b"/>
            <a:pathLst>
              <a:path w="2642616" h="719633">
                <a:moveTo>
                  <a:pt x="0" y="0"/>
                </a:moveTo>
                <a:moveTo>
                  <a:pt x="0" y="0"/>
                </a:moveTo>
                <a:lnTo>
                  <a:pt x="2642616" y="0"/>
                </a:lnTo>
                <a:lnTo>
                  <a:pt x="2642616" y="719633"/>
                </a:lnTo>
                <a:lnTo>
                  <a:pt x="0" y="719633"/>
                </a:lnTo>
                <a:close/>
              </a:path>
            </a:pathLst>
          </a:custGeom>
          <a:solidFill>
            <a:srgbClr val="0084FF"/>
          </a:solidFill>
          <a:ln/>
        </p:spPr>
      </p:sp>
      <p:sp>
        <p:nvSpPr>
          <p:cNvPr id="5" name="Text 3"/>
          <p:cNvSpPr/>
          <p:nvPr/>
        </p:nvSpPr>
        <p:spPr>
          <a:xfrm>
            <a:off x="335228" y="3974508"/>
            <a:ext cx="611856"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3D4D83"/>
                </a:solidFill>
                <a:latin typeface="Noto Sans" pitchFamily="34" charset="0"/>
                <a:ea typeface="Noto Sans" pitchFamily="34" charset="-122"/>
                <a:cs typeface="Noto Sans" pitchFamily="34" charset="-120"/>
              </a:rPr>
              <a:t>1</a:t>
            </a:r>
            <a:endParaRPr lang="en-US" sz="1440" dirty="0"/>
          </a:p>
        </p:txBody>
      </p:sp>
      <p:sp>
        <p:nvSpPr>
          <p:cNvPr id="6" name="Text 4"/>
          <p:cNvSpPr/>
          <p:nvPr/>
        </p:nvSpPr>
        <p:spPr>
          <a:xfrm>
            <a:off x="2322804" y="3782484"/>
            <a:ext cx="461709" cy="758952"/>
          </a:xfrm>
          <a:prstGeom prst="rect">
            <a:avLst/>
          </a:prstGeom>
          <a:noFill/>
          <a:ln/>
        </p:spPr>
        <p:txBody>
          <a:bodyPr wrap="square" lIns="95250" tIns="95250" rIns="95250" bIns="95250" rtlCol="0" anchor="t"/>
          <a:lstStyle/>
          <a:p>
            <a:pPr marL="0" indent="0" algn="ctr">
              <a:lnSpc>
                <a:spcPct val="112500"/>
              </a:lnSpc>
              <a:spcBef>
                <a:spcPts val="375"/>
              </a:spcBef>
              <a:buNone/>
            </a:pPr>
            <a:r>
              <a:rPr lang="en-US" sz="4320" b="1" dirty="0">
                <a:solidFill>
                  <a:srgbClr val="3D4D83"/>
                </a:solidFill>
                <a:latin typeface="Noto Sans" pitchFamily="34" charset="0"/>
                <a:ea typeface="Noto Sans" pitchFamily="34" charset="-122"/>
                <a:cs typeface="Noto Sans" pitchFamily="34" charset="-120"/>
              </a:rPr>
              <a:t>·</a:t>
            </a:r>
            <a:endParaRPr lang="en-US" sz="1440" dirty="0"/>
          </a:p>
        </p:txBody>
      </p:sp>
      <p:sp>
        <p:nvSpPr>
          <p:cNvPr id="7" name="Shape 5"/>
          <p:cNvSpPr/>
          <p:nvPr/>
        </p:nvSpPr>
        <p:spPr>
          <a:xfrm>
            <a:off x="3247065" y="1359647"/>
            <a:ext cx="2628900" cy="3203954"/>
          </a:xfrm>
          <a:custGeom>
            <a:avLst/>
            <a:gdLst/>
            <a:ahLst/>
            <a:cxnLst/>
            <a:rect l="l" t="t" r="r" b="b"/>
            <a:pathLst>
              <a:path w="2628900" h="3203954">
                <a:moveTo>
                  <a:pt x="0" y="0"/>
                </a:moveTo>
                <a:moveTo>
                  <a:pt x="0" y="0"/>
                </a:moveTo>
                <a:lnTo>
                  <a:pt x="2628900" y="0"/>
                </a:lnTo>
                <a:lnTo>
                  <a:pt x="2628900" y="3203954"/>
                </a:lnTo>
                <a:lnTo>
                  <a:pt x="0" y="3203954"/>
                </a:lnTo>
                <a:close/>
              </a:path>
            </a:pathLst>
          </a:custGeom>
          <a:solidFill>
            <a:srgbClr val="FFFFFF"/>
          </a:solidFill>
          <a:ln w="9525">
            <a:solidFill>
              <a:srgbClr val="949BF0"/>
            </a:solidFill>
            <a:prstDash val="solid"/>
          </a:ln>
        </p:spPr>
      </p:sp>
      <p:sp>
        <p:nvSpPr>
          <p:cNvPr id="8" name="Shape 6"/>
          <p:cNvSpPr/>
          <p:nvPr/>
        </p:nvSpPr>
        <p:spPr>
          <a:xfrm>
            <a:off x="3247065" y="1075926"/>
            <a:ext cx="2642616" cy="719633"/>
          </a:xfrm>
          <a:custGeom>
            <a:avLst/>
            <a:gdLst/>
            <a:ahLst/>
            <a:cxnLst/>
            <a:rect l="l" t="t" r="r" b="b"/>
            <a:pathLst>
              <a:path w="2642616" h="719633">
                <a:moveTo>
                  <a:pt x="0" y="0"/>
                </a:moveTo>
                <a:moveTo>
                  <a:pt x="0" y="0"/>
                </a:moveTo>
                <a:lnTo>
                  <a:pt x="2642616" y="0"/>
                </a:lnTo>
                <a:lnTo>
                  <a:pt x="2642616" y="719633"/>
                </a:lnTo>
                <a:lnTo>
                  <a:pt x="0" y="719633"/>
                </a:lnTo>
                <a:close/>
              </a:path>
            </a:pathLst>
          </a:custGeom>
          <a:solidFill>
            <a:srgbClr val="5196FF"/>
          </a:solidFill>
          <a:ln/>
        </p:spPr>
      </p:sp>
      <p:sp>
        <p:nvSpPr>
          <p:cNvPr id="9" name="Text 7"/>
          <p:cNvSpPr/>
          <p:nvPr/>
        </p:nvSpPr>
        <p:spPr>
          <a:xfrm>
            <a:off x="3246804" y="3974508"/>
            <a:ext cx="611856"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949BF0"/>
                </a:solidFill>
                <a:latin typeface="Noto Sans" pitchFamily="34" charset="0"/>
                <a:ea typeface="Noto Sans" pitchFamily="34" charset="-122"/>
                <a:cs typeface="Noto Sans" pitchFamily="34" charset="-120"/>
              </a:rPr>
              <a:t>2</a:t>
            </a:r>
            <a:endParaRPr lang="en-US" sz="1440" dirty="0"/>
          </a:p>
        </p:txBody>
      </p:sp>
      <p:sp>
        <p:nvSpPr>
          <p:cNvPr id="10" name="Text 8"/>
          <p:cNvSpPr/>
          <p:nvPr/>
        </p:nvSpPr>
        <p:spPr>
          <a:xfrm>
            <a:off x="5234380" y="3782484"/>
            <a:ext cx="461709" cy="758952"/>
          </a:xfrm>
          <a:prstGeom prst="rect">
            <a:avLst/>
          </a:prstGeom>
          <a:noFill/>
          <a:ln/>
        </p:spPr>
        <p:txBody>
          <a:bodyPr wrap="square" lIns="95250" tIns="95250" rIns="95250" bIns="95250" rtlCol="0" anchor="t"/>
          <a:lstStyle/>
          <a:p>
            <a:pPr marL="0" indent="0" algn="ctr">
              <a:lnSpc>
                <a:spcPct val="112500"/>
              </a:lnSpc>
              <a:spcBef>
                <a:spcPts val="375"/>
              </a:spcBef>
              <a:buNone/>
            </a:pPr>
            <a:r>
              <a:rPr lang="en-US" sz="4320" b="1" dirty="0">
                <a:solidFill>
                  <a:srgbClr val="949BF0"/>
                </a:solidFill>
                <a:latin typeface="Noto Sans" pitchFamily="34" charset="0"/>
                <a:ea typeface="Noto Sans" pitchFamily="34" charset="-122"/>
                <a:cs typeface="Noto Sans" pitchFamily="34" charset="-120"/>
              </a:rPr>
              <a:t>·</a:t>
            </a:r>
            <a:endParaRPr lang="en-US" sz="1440" dirty="0"/>
          </a:p>
        </p:txBody>
      </p:sp>
      <p:sp>
        <p:nvSpPr>
          <p:cNvPr id="11" name="Shape 9"/>
          <p:cNvSpPr/>
          <p:nvPr/>
        </p:nvSpPr>
        <p:spPr>
          <a:xfrm>
            <a:off x="6175300" y="1359647"/>
            <a:ext cx="2628900" cy="3203954"/>
          </a:xfrm>
          <a:custGeom>
            <a:avLst/>
            <a:gdLst/>
            <a:ahLst/>
            <a:cxnLst/>
            <a:rect l="l" t="t" r="r" b="b"/>
            <a:pathLst>
              <a:path w="2628900" h="3203954">
                <a:moveTo>
                  <a:pt x="0" y="0"/>
                </a:moveTo>
                <a:moveTo>
                  <a:pt x="0" y="0"/>
                </a:moveTo>
                <a:lnTo>
                  <a:pt x="2628900" y="0"/>
                </a:lnTo>
                <a:lnTo>
                  <a:pt x="2628900" y="3203954"/>
                </a:lnTo>
                <a:lnTo>
                  <a:pt x="0" y="3203954"/>
                </a:lnTo>
                <a:close/>
              </a:path>
            </a:pathLst>
          </a:custGeom>
          <a:solidFill>
            <a:srgbClr val="FFFFFF"/>
          </a:solidFill>
          <a:ln w="9525">
            <a:solidFill>
              <a:srgbClr val="3D4D83"/>
            </a:solidFill>
            <a:prstDash val="solid"/>
          </a:ln>
        </p:spPr>
      </p:sp>
      <p:sp>
        <p:nvSpPr>
          <p:cNvPr id="12" name="Shape 10"/>
          <p:cNvSpPr/>
          <p:nvPr/>
        </p:nvSpPr>
        <p:spPr>
          <a:xfrm>
            <a:off x="6175300" y="1075926"/>
            <a:ext cx="2642616" cy="719633"/>
          </a:xfrm>
          <a:custGeom>
            <a:avLst/>
            <a:gdLst/>
            <a:ahLst/>
            <a:cxnLst/>
            <a:rect l="l" t="t" r="r" b="b"/>
            <a:pathLst>
              <a:path w="2642616" h="719633">
                <a:moveTo>
                  <a:pt x="0" y="0"/>
                </a:moveTo>
                <a:moveTo>
                  <a:pt x="0" y="0"/>
                </a:moveTo>
                <a:lnTo>
                  <a:pt x="2642616" y="0"/>
                </a:lnTo>
                <a:lnTo>
                  <a:pt x="2642616" y="719633"/>
                </a:lnTo>
                <a:lnTo>
                  <a:pt x="0" y="719633"/>
                </a:lnTo>
                <a:close/>
              </a:path>
            </a:pathLst>
          </a:custGeom>
          <a:solidFill>
            <a:srgbClr val="0084FF"/>
          </a:solidFill>
          <a:ln/>
        </p:spPr>
      </p:sp>
      <p:sp>
        <p:nvSpPr>
          <p:cNvPr id="13" name="Text 11"/>
          <p:cNvSpPr/>
          <p:nvPr/>
        </p:nvSpPr>
        <p:spPr>
          <a:xfrm>
            <a:off x="6175492" y="3974508"/>
            <a:ext cx="611856" cy="566928"/>
          </a:xfrm>
          <a:prstGeom prst="rect">
            <a:avLst/>
          </a:prstGeom>
          <a:noFill/>
          <a:ln/>
        </p:spPr>
        <p:txBody>
          <a:bodyPr wrap="square" lIns="95250" tIns="95250" rIns="95250" bIns="95250" rtlCol="0" anchor="t">
            <a:spAutoFit/>
          </a:bodyPr>
          <a:lstStyle/>
          <a:p>
            <a:pPr marL="0" indent="0" algn="ctr">
              <a:lnSpc>
                <a:spcPct val="112500"/>
              </a:lnSpc>
              <a:spcBef>
                <a:spcPts val="375"/>
              </a:spcBef>
              <a:buNone/>
            </a:pPr>
            <a:r>
              <a:rPr lang="en-US" sz="2016" b="1" dirty="0">
                <a:solidFill>
                  <a:srgbClr val="3D4D83"/>
                </a:solidFill>
                <a:latin typeface="Noto Sans" pitchFamily="34" charset="0"/>
                <a:ea typeface="Noto Sans" pitchFamily="34" charset="-122"/>
                <a:cs typeface="Noto Sans" pitchFamily="34" charset="-120"/>
              </a:rPr>
              <a:t>3</a:t>
            </a:r>
            <a:endParaRPr lang="en-US" sz="1440" dirty="0"/>
          </a:p>
        </p:txBody>
      </p:sp>
      <p:sp>
        <p:nvSpPr>
          <p:cNvPr id="14" name="Text 12"/>
          <p:cNvSpPr/>
          <p:nvPr/>
        </p:nvSpPr>
        <p:spPr>
          <a:xfrm>
            <a:off x="8163068" y="3782484"/>
            <a:ext cx="461709" cy="758952"/>
          </a:xfrm>
          <a:prstGeom prst="rect">
            <a:avLst/>
          </a:prstGeom>
          <a:noFill/>
          <a:ln/>
        </p:spPr>
        <p:txBody>
          <a:bodyPr wrap="square" lIns="95250" tIns="95250" rIns="95250" bIns="95250" rtlCol="0" anchor="t"/>
          <a:lstStyle/>
          <a:p>
            <a:pPr marL="0" indent="0" algn="ctr">
              <a:lnSpc>
                <a:spcPct val="112500"/>
              </a:lnSpc>
              <a:spcBef>
                <a:spcPts val="375"/>
              </a:spcBef>
              <a:buNone/>
            </a:pPr>
            <a:r>
              <a:rPr lang="en-US" sz="4320" b="1" dirty="0">
                <a:solidFill>
                  <a:srgbClr val="3D4D83"/>
                </a:solidFill>
                <a:latin typeface="Noto Sans" pitchFamily="34" charset="0"/>
                <a:ea typeface="Noto Sans" pitchFamily="34" charset="-122"/>
                <a:cs typeface="Noto Sans" pitchFamily="34" charset="-120"/>
              </a:rPr>
              <a:t>·</a:t>
            </a:r>
            <a:endParaRPr lang="en-US" sz="1440" dirty="0"/>
          </a:p>
        </p:txBody>
      </p:sp>
      <p:sp>
        <p:nvSpPr>
          <p:cNvPr id="15" name="Text 13"/>
          <p:cNvSpPr/>
          <p:nvPr/>
        </p:nvSpPr>
        <p:spPr>
          <a:xfrm>
            <a:off x="456962" y="1248291"/>
            <a:ext cx="2506545" cy="374904"/>
          </a:xfrm>
          <a:prstGeom prst="rect">
            <a:avLst/>
          </a:prstGeom>
          <a:noFill/>
          <a:ln/>
        </p:spPr>
        <p:txBody>
          <a:bodyPr wrap="square" lIns="95250" tIns="95250" rIns="95250" bIns="95250" rtlCol="0" anchor="ctr"/>
          <a:lstStyle/>
          <a:p>
            <a:pPr marL="0" indent="0">
              <a:lnSpc>
                <a:spcPct val="100000"/>
              </a:lnSpc>
              <a:spcBef>
                <a:spcPts val="375"/>
              </a:spcBef>
              <a:buNone/>
            </a:pPr>
            <a:r>
              <a:rPr lang="en-US" sz="1584" b="1" dirty="0">
                <a:solidFill>
                  <a:srgbClr val="F4F7FF"/>
                </a:solidFill>
                <a:latin typeface="Noto Sans" pitchFamily="34" charset="0"/>
                <a:ea typeface="Noto Sans" pitchFamily="34" charset="-122"/>
                <a:cs typeface="Noto Sans" pitchFamily="34" charset="-120"/>
              </a:rPr>
              <a:t>技术创新引领未来</a:t>
            </a:r>
            <a:endParaRPr lang="en-US" sz="1440" dirty="0"/>
          </a:p>
        </p:txBody>
      </p:sp>
      <p:sp>
        <p:nvSpPr>
          <p:cNvPr id="16" name="Text 14"/>
          <p:cNvSpPr/>
          <p:nvPr/>
        </p:nvSpPr>
        <p:spPr>
          <a:xfrm>
            <a:off x="420386" y="1942867"/>
            <a:ext cx="2364127" cy="171907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随着区块链、人工智能和虚拟现实等前沿技术的不断进步，电子商务平台将通过技术创新提升性能和安全性，实现商品溯源透明化，提供个性化推荐，增强用户购物体验。</a:t>
            </a:r>
            <a:endParaRPr lang="en-US" sz="1440" dirty="0"/>
          </a:p>
        </p:txBody>
      </p:sp>
      <p:sp>
        <p:nvSpPr>
          <p:cNvPr id="17" name="Text 15"/>
          <p:cNvSpPr/>
          <p:nvPr/>
        </p:nvSpPr>
        <p:spPr>
          <a:xfrm>
            <a:off x="3368538" y="1248291"/>
            <a:ext cx="2472943" cy="374904"/>
          </a:xfrm>
          <a:prstGeom prst="rect">
            <a:avLst/>
          </a:prstGeom>
          <a:noFill/>
          <a:ln/>
        </p:spPr>
        <p:txBody>
          <a:bodyPr wrap="square" lIns="95250" tIns="95250" rIns="95250" bIns="95250" rtlCol="0" anchor="ctr"/>
          <a:lstStyle/>
          <a:p>
            <a:pPr marL="0" indent="0">
              <a:lnSpc>
                <a:spcPct val="100000"/>
              </a:lnSpc>
              <a:spcBef>
                <a:spcPts val="375"/>
              </a:spcBef>
              <a:buNone/>
            </a:pPr>
            <a:r>
              <a:rPr lang="en-US" sz="1584" b="1" dirty="0">
                <a:solidFill>
                  <a:srgbClr val="F4F7FF"/>
                </a:solidFill>
                <a:latin typeface="Noto Sans" pitchFamily="34" charset="0"/>
                <a:ea typeface="Noto Sans" pitchFamily="34" charset="-122"/>
                <a:cs typeface="Noto Sans" pitchFamily="34" charset="-120"/>
              </a:rPr>
              <a:t>用户体验至上</a:t>
            </a:r>
            <a:endParaRPr lang="en-US" sz="1440" dirty="0"/>
          </a:p>
        </p:txBody>
      </p:sp>
      <p:sp>
        <p:nvSpPr>
          <p:cNvPr id="18" name="Text 16"/>
          <p:cNvSpPr/>
          <p:nvPr/>
        </p:nvSpPr>
        <p:spPr>
          <a:xfrm>
            <a:off x="3331962" y="1942867"/>
            <a:ext cx="2352212" cy="171907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优化用户界面设计，确保简洁直观易用，提供多渠道客户支持，建立完善的售后服务体系，这些措施共同作用于提升用户体验，增加用户满意度和忠诚度。</a:t>
            </a:r>
            <a:endParaRPr lang="en-US" sz="1440" dirty="0"/>
          </a:p>
        </p:txBody>
      </p:sp>
      <p:sp>
        <p:nvSpPr>
          <p:cNvPr id="19" name="Text 17"/>
          <p:cNvSpPr/>
          <p:nvPr/>
        </p:nvSpPr>
        <p:spPr>
          <a:xfrm>
            <a:off x="6297226" y="1248291"/>
            <a:ext cx="2450575" cy="374904"/>
          </a:xfrm>
          <a:prstGeom prst="rect">
            <a:avLst/>
          </a:prstGeom>
          <a:noFill/>
          <a:ln/>
        </p:spPr>
        <p:txBody>
          <a:bodyPr wrap="square" lIns="95250" tIns="95250" rIns="95250" bIns="95250" rtlCol="0" anchor="ctr"/>
          <a:lstStyle/>
          <a:p>
            <a:pPr marL="0" indent="0">
              <a:lnSpc>
                <a:spcPct val="100000"/>
              </a:lnSpc>
              <a:spcBef>
                <a:spcPts val="375"/>
              </a:spcBef>
              <a:buNone/>
            </a:pPr>
            <a:r>
              <a:rPr lang="en-US" sz="1584" b="1" dirty="0">
                <a:solidFill>
                  <a:srgbClr val="F4F7FF"/>
                </a:solidFill>
                <a:latin typeface="Noto Sans" pitchFamily="34" charset="0"/>
                <a:ea typeface="Noto Sans" pitchFamily="34" charset="-122"/>
                <a:cs typeface="Noto Sans" pitchFamily="34" charset="-120"/>
              </a:rPr>
              <a:t>全球化运营拓展市场</a:t>
            </a:r>
            <a:endParaRPr lang="en-US" sz="1440" dirty="0"/>
          </a:p>
        </p:txBody>
      </p:sp>
      <p:sp>
        <p:nvSpPr>
          <p:cNvPr id="20" name="Text 18"/>
          <p:cNvSpPr/>
          <p:nvPr/>
        </p:nvSpPr>
        <p:spPr>
          <a:xfrm>
            <a:off x="6260650" y="1942867"/>
            <a:ext cx="2364127" cy="1719072"/>
          </a:xfrm>
          <a:prstGeom prst="rect">
            <a:avLst/>
          </a:prstGeom>
          <a:noFill/>
          <a:ln/>
        </p:spPr>
        <p:txBody>
          <a:bodyPr wrap="square" lIns="95250" tIns="95250" rIns="95250" bIns="95250" rtlCol="0" anchor="t">
            <a:spAutoFit/>
          </a:bodyPr>
          <a:lstStyle/>
          <a:p>
            <a:pPr marL="0" indent="0">
              <a:lnSpc>
                <a:spcPct val="100000"/>
              </a:lnSpc>
              <a:spcBef>
                <a:spcPts val="375"/>
              </a:spcBef>
              <a:buNone/>
            </a:pPr>
            <a:r>
              <a:rPr lang="en-US" sz="1152" dirty="0">
                <a:solidFill>
                  <a:srgbClr val="000000"/>
                </a:solidFill>
                <a:latin typeface="Noto Sans" pitchFamily="34" charset="0"/>
                <a:ea typeface="Noto Sans" pitchFamily="34" charset="-122"/>
                <a:cs typeface="Noto Sans" pitchFamily="34" charset="-120"/>
              </a:rPr>
              <a:t>跨境电商的发展为电子商务平台开辟了新的市场空间，通过与国际物流合作、多语言支持和文化适应性调整，以及遵守各国法律法规，平台能够实现全球范围内的商品配送和服务。</a:t>
            </a:r>
            <a:endParaRPr lang="en-US" sz="14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28147" y="2311996"/>
            <a:ext cx="4313208" cy="1088136"/>
          </a:xfrm>
          <a:prstGeom prst="rect">
            <a:avLst/>
          </a:prstGeom>
          <a:noFill/>
          <a:ln/>
        </p:spPr>
        <p:txBody>
          <a:bodyPr wrap="square" lIns="95250" tIns="95250" rIns="95250" bIns="95250" rtlCol="0" anchor="t"/>
          <a:lstStyle/>
          <a:p>
            <a:pPr marL="0" indent="0">
              <a:lnSpc>
                <a:spcPct val="112500"/>
              </a:lnSpc>
              <a:spcBef>
                <a:spcPts val="375"/>
              </a:spcBef>
              <a:buNone/>
            </a:pPr>
            <a:r>
              <a:rPr lang="en-US" sz="4752" b="1" dirty="0">
                <a:solidFill>
                  <a:srgbClr val="3D4D83">
                    <a:alpha val="10000"/>
                  </a:srgbClr>
                </a:solidFill>
                <a:latin typeface="Microsoft Yahei" pitchFamily="34" charset="0"/>
                <a:ea typeface="Microsoft Yahei" pitchFamily="34" charset="-122"/>
                <a:cs typeface="Microsoft Yahei" pitchFamily="34" charset="-120"/>
              </a:rPr>
              <a:t>THANKS！</a:t>
            </a:r>
            <a:endParaRPr lang="en-US" sz="1440" dirty="0"/>
          </a:p>
        </p:txBody>
      </p:sp>
      <p:sp>
        <p:nvSpPr>
          <p:cNvPr id="3" name="Text 1"/>
          <p:cNvSpPr/>
          <p:nvPr/>
        </p:nvSpPr>
        <p:spPr>
          <a:xfrm>
            <a:off x="1028147" y="2179408"/>
            <a:ext cx="3275888" cy="676656"/>
          </a:xfrm>
          <a:prstGeom prst="rect">
            <a:avLst/>
          </a:prstGeom>
          <a:noFill/>
          <a:ln/>
        </p:spPr>
        <p:txBody>
          <a:bodyPr wrap="square" lIns="95250" tIns="95250" rIns="95250" bIns="95250" rtlCol="0" anchor="t"/>
          <a:lstStyle/>
          <a:p>
            <a:pPr marL="0" indent="0">
              <a:lnSpc>
                <a:spcPct val="100000"/>
              </a:lnSpc>
              <a:spcBef>
                <a:spcPts val="375"/>
              </a:spcBef>
              <a:buNone/>
            </a:pPr>
            <a:r>
              <a:rPr lang="en-US" sz="3888" b="1" dirty="0">
                <a:solidFill>
                  <a:srgbClr val="3D4D83"/>
                </a:solidFill>
                <a:latin typeface="Microsoft Yahei" pitchFamily="34" charset="0"/>
                <a:ea typeface="Microsoft Yahei" pitchFamily="34" charset="-122"/>
                <a:cs typeface="Microsoft Yahei" pitchFamily="34" charset="-120"/>
              </a:rPr>
              <a:t>感谢观看！</a:t>
            </a:r>
            <a:endParaRPr lang="en-US" sz="1440" dirty="0"/>
          </a:p>
        </p:txBody>
      </p:sp>
      <p:sp>
        <p:nvSpPr>
          <p:cNvPr id="4" name="Shape 2"/>
          <p:cNvSpPr/>
          <p:nvPr/>
        </p:nvSpPr>
        <p:spPr>
          <a:xfrm>
            <a:off x="1125047" y="1246062"/>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E6C585"/>
          </a:solidFill>
          <a:ln/>
        </p:spPr>
      </p:sp>
      <p:sp>
        <p:nvSpPr>
          <p:cNvPr id="5" name="Shape 3"/>
          <p:cNvSpPr/>
          <p:nvPr/>
        </p:nvSpPr>
        <p:spPr>
          <a:xfrm>
            <a:off x="1478524" y="1246062"/>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B5D9AB"/>
          </a:solidFill>
          <a:ln/>
        </p:spPr>
      </p:sp>
      <p:sp>
        <p:nvSpPr>
          <p:cNvPr id="6" name="Shape 4"/>
          <p:cNvSpPr/>
          <p:nvPr/>
        </p:nvSpPr>
        <p:spPr>
          <a:xfrm>
            <a:off x="1832002" y="1246062"/>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AA1A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452</Words>
  <Application>Microsoft Office PowerPoint</Application>
  <PresentationFormat>全屏显示(16:9)</PresentationFormat>
  <Paragraphs>129</Paragraphs>
  <Slides>18</Slides>
  <Notes>18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Noto Sans</vt:lpstr>
      <vt:lpstr>等线</vt:lpstr>
      <vt:lpstr>Microsoft Yahei</vt:lpstr>
      <vt:lpstr>Microsoft Yahei</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Administrator</cp:lastModifiedBy>
  <cp:revision>2</cp:revision>
  <dcterms:created xsi:type="dcterms:W3CDTF">2025-04-06T07:39:41Z</dcterms:created>
  <dcterms:modified xsi:type="dcterms:W3CDTF">2025-04-06T07:40:03Z</dcterms:modified>
</cp:coreProperties>
</file>